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Saathi is built and running. 355 tests, 24 languages, five BRICS federation nodes.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 is not information. It is trustworthy, local, spoken, explainable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refusals are the point. Confident wrong advice is what costs a farmer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language model routes and explains. Every number comes from a published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one of these runs today against live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limitations slide is deliberate. A system that hides them cannot be trusted with a season's income.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16623"/>
            <a:ext cx="140254" cy="140254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" y="200874"/>
            <a:ext cx="164218" cy="164218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4" name="Shape 2"/>
          <p:cNvSpPr/>
          <p:nvPr/>
        </p:nvSpPr>
        <p:spPr>
          <a:xfrm>
            <a:off x="1207008" y="217867"/>
            <a:ext cx="114728" cy="114728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15799"/>
            <a:ext cx="102797" cy="102797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6" name="Shape 4"/>
          <p:cNvSpPr/>
          <p:nvPr/>
        </p:nvSpPr>
        <p:spPr>
          <a:xfrm>
            <a:off x="2487168" y="108841"/>
            <a:ext cx="145801" cy="145801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7" name="Shape 5"/>
          <p:cNvSpPr/>
          <p:nvPr/>
        </p:nvSpPr>
        <p:spPr>
          <a:xfrm>
            <a:off x="2999232" y="32116"/>
            <a:ext cx="159305" cy="159305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8" name="Shape 6"/>
          <p:cNvSpPr/>
          <p:nvPr/>
        </p:nvSpPr>
        <p:spPr>
          <a:xfrm>
            <a:off x="4791456" y="32979"/>
            <a:ext cx="125383" cy="125383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9" name="Shape 7"/>
          <p:cNvSpPr/>
          <p:nvPr/>
        </p:nvSpPr>
        <p:spPr>
          <a:xfrm>
            <a:off x="5047488" y="173411"/>
            <a:ext cx="122487" cy="122487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0" name="Shape 8"/>
          <p:cNvSpPr/>
          <p:nvPr/>
        </p:nvSpPr>
        <p:spPr>
          <a:xfrm>
            <a:off x="5815584" y="125981"/>
            <a:ext cx="134381" cy="134381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1" name="Shape 9"/>
          <p:cNvSpPr/>
          <p:nvPr/>
        </p:nvSpPr>
        <p:spPr>
          <a:xfrm>
            <a:off x="6071616" y="131847"/>
            <a:ext cx="162051" cy="162051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2" name="Shape 10"/>
          <p:cNvSpPr/>
          <p:nvPr/>
        </p:nvSpPr>
        <p:spPr>
          <a:xfrm>
            <a:off x="6839712" y="52090"/>
            <a:ext cx="142554" cy="142554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3" name="Shape 11"/>
          <p:cNvSpPr/>
          <p:nvPr/>
        </p:nvSpPr>
        <p:spPr>
          <a:xfrm>
            <a:off x="7351776" y="64740"/>
            <a:ext cx="133847" cy="133847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4" name="Shape 12"/>
          <p:cNvSpPr/>
          <p:nvPr/>
        </p:nvSpPr>
        <p:spPr>
          <a:xfrm>
            <a:off x="7607808" y="44408"/>
            <a:ext cx="156998" cy="156998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5" name="Shape 13"/>
          <p:cNvSpPr/>
          <p:nvPr/>
        </p:nvSpPr>
        <p:spPr>
          <a:xfrm>
            <a:off x="8887968" y="86360"/>
            <a:ext cx="135729" cy="135729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6" name="Shape 14"/>
          <p:cNvSpPr/>
          <p:nvPr/>
        </p:nvSpPr>
        <p:spPr>
          <a:xfrm>
            <a:off x="9400032" y="135478"/>
            <a:ext cx="114633" cy="114633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7" name="Shape 15"/>
          <p:cNvSpPr/>
          <p:nvPr/>
        </p:nvSpPr>
        <p:spPr>
          <a:xfrm>
            <a:off x="9656064" y="168176"/>
            <a:ext cx="157419" cy="157419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8" name="Shape 16"/>
          <p:cNvSpPr/>
          <p:nvPr/>
        </p:nvSpPr>
        <p:spPr>
          <a:xfrm>
            <a:off x="9912096" y="55724"/>
            <a:ext cx="137839" cy="137839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9" name="Shape 17"/>
          <p:cNvSpPr/>
          <p:nvPr/>
        </p:nvSpPr>
        <p:spPr>
          <a:xfrm>
            <a:off x="10424160" y="12916"/>
            <a:ext cx="144089" cy="144089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0" name="Shape 18"/>
          <p:cNvSpPr/>
          <p:nvPr/>
        </p:nvSpPr>
        <p:spPr>
          <a:xfrm>
            <a:off x="10936224" y="181595"/>
            <a:ext cx="113325" cy="113325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92256" y="170028"/>
            <a:ext cx="133878" cy="133878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48288" y="23776"/>
            <a:ext cx="131390" cy="131390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3" name="Shape 21"/>
          <p:cNvSpPr/>
          <p:nvPr/>
        </p:nvSpPr>
        <p:spPr>
          <a:xfrm>
            <a:off x="11704320" y="130117"/>
            <a:ext cx="142723" cy="142723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6692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✳  SAATHI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964424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deck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6199632"/>
            <a:ext cx="11055096" cy="0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6928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github.com/japi3/agrin  ↗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1828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7CB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4 · AGRIN &amp; REGENERATIVE AGRICULTURAL INTELLIGENCE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12064" y="2139696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Saathi</a:t>
            </a:r>
            <a:endParaRPr lang="en-US" sz="88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3529584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i="1" dirty="0">
                <a:solidFill>
                  <a:srgbClr val="7CB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voice-first farming assistant that answers from validated agronomic models and live satellite, soil and market data — in 24 languages, for a farmer who may not read.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482803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B3A2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508406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Working, deployed,</a:t>
            </a:r>
            <a:endParaRPr lang="en-US" sz="14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355 tests passing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3401568" y="482803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B3A2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3401568" y="508406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BRICS cooperation,</a:t>
            </a:r>
            <a:endParaRPr lang="en-US" sz="14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6236208" y="482803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B3A2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MEMBERS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236208" y="508406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Harnoor Singh</a:t>
            </a:r>
            <a:endParaRPr lang="en-US" sz="14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Japleen Kaur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9070848" y="482803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B3A2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INSTITUTE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9070848" y="508406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Thapar Institute of</a:t>
            </a:r>
            <a:endParaRPr lang="en-US" sz="14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Technology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" y="97223"/>
            <a:ext cx="103952" cy="103952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3" name="Shape 1"/>
          <p:cNvSpPr/>
          <p:nvPr/>
        </p:nvSpPr>
        <p:spPr>
          <a:xfrm>
            <a:off x="1207008" y="163732"/>
            <a:ext cx="121873" cy="121873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4" name="Shape 2"/>
          <p:cNvSpPr/>
          <p:nvPr/>
        </p:nvSpPr>
        <p:spPr>
          <a:xfrm>
            <a:off x="1463040" y="19672"/>
            <a:ext cx="109110" cy="109110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5" name="Shape 3"/>
          <p:cNvSpPr/>
          <p:nvPr/>
        </p:nvSpPr>
        <p:spPr>
          <a:xfrm>
            <a:off x="1975104" y="107174"/>
            <a:ext cx="113491" cy="113491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6" name="Shape 4"/>
          <p:cNvSpPr/>
          <p:nvPr/>
        </p:nvSpPr>
        <p:spPr>
          <a:xfrm>
            <a:off x="2231136" y="160653"/>
            <a:ext cx="129603" cy="129603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7" name="Shape 5"/>
          <p:cNvSpPr/>
          <p:nvPr/>
        </p:nvSpPr>
        <p:spPr>
          <a:xfrm>
            <a:off x="2487168" y="129789"/>
            <a:ext cx="163098" cy="163098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8" name="Shape 6"/>
          <p:cNvSpPr/>
          <p:nvPr/>
        </p:nvSpPr>
        <p:spPr>
          <a:xfrm>
            <a:off x="2999232" y="173639"/>
            <a:ext cx="154476" cy="154476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9" name="Shape 7"/>
          <p:cNvSpPr/>
          <p:nvPr/>
        </p:nvSpPr>
        <p:spPr>
          <a:xfrm>
            <a:off x="4023360" y="136133"/>
            <a:ext cx="124947" cy="124947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0" name="Shape 8"/>
          <p:cNvSpPr/>
          <p:nvPr/>
        </p:nvSpPr>
        <p:spPr>
          <a:xfrm>
            <a:off x="4279392" y="218298"/>
            <a:ext cx="150894" cy="15089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1" name="Shape 9"/>
          <p:cNvSpPr/>
          <p:nvPr/>
        </p:nvSpPr>
        <p:spPr>
          <a:xfrm>
            <a:off x="5303520" y="120744"/>
            <a:ext cx="168134" cy="168134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2" name="Shape 10"/>
          <p:cNvSpPr/>
          <p:nvPr/>
        </p:nvSpPr>
        <p:spPr>
          <a:xfrm>
            <a:off x="5559552" y="156772"/>
            <a:ext cx="131885" cy="131885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3" name="Shape 11"/>
          <p:cNvSpPr/>
          <p:nvPr/>
        </p:nvSpPr>
        <p:spPr>
          <a:xfrm>
            <a:off x="6327648" y="172466"/>
            <a:ext cx="125876" cy="125876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0" y="46946"/>
            <a:ext cx="103442" cy="103442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5" name="Shape 13"/>
          <p:cNvSpPr/>
          <p:nvPr/>
        </p:nvSpPr>
        <p:spPr>
          <a:xfrm>
            <a:off x="7095744" y="162606"/>
            <a:ext cx="159538" cy="159538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6" name="Shape 14"/>
          <p:cNvSpPr/>
          <p:nvPr/>
        </p:nvSpPr>
        <p:spPr>
          <a:xfrm>
            <a:off x="7351776" y="1176"/>
            <a:ext cx="147996" cy="147996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7" name="Shape 15"/>
          <p:cNvSpPr/>
          <p:nvPr/>
        </p:nvSpPr>
        <p:spPr>
          <a:xfrm>
            <a:off x="7607808" y="204808"/>
            <a:ext cx="147558" cy="147558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8" name="Shape 16"/>
          <p:cNvSpPr/>
          <p:nvPr/>
        </p:nvSpPr>
        <p:spPr>
          <a:xfrm>
            <a:off x="7863840" y="185217"/>
            <a:ext cx="151717" cy="151717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9" name="Shape 17"/>
          <p:cNvSpPr/>
          <p:nvPr/>
        </p:nvSpPr>
        <p:spPr>
          <a:xfrm>
            <a:off x="8119872" y="143472"/>
            <a:ext cx="144299" cy="144299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0" name="Shape 18"/>
          <p:cNvSpPr/>
          <p:nvPr/>
        </p:nvSpPr>
        <p:spPr>
          <a:xfrm>
            <a:off x="8631936" y="178124"/>
            <a:ext cx="140099" cy="140099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0" y="208830"/>
            <a:ext cx="113231" cy="113231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22" name="Shape 20"/>
          <p:cNvSpPr/>
          <p:nvPr/>
        </p:nvSpPr>
        <p:spPr>
          <a:xfrm>
            <a:off x="9400032" y="58212"/>
            <a:ext cx="152165" cy="152165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68128" y="44451"/>
            <a:ext cx="153193" cy="153193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24160" y="79418"/>
            <a:ext cx="126844" cy="126844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25" name="Shape 23"/>
          <p:cNvSpPr/>
          <p:nvPr/>
        </p:nvSpPr>
        <p:spPr>
          <a:xfrm>
            <a:off x="10680192" y="152234"/>
            <a:ext cx="125560" cy="125560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936224" y="154709"/>
            <a:ext cx="107838" cy="107838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7" name="Shape 25"/>
          <p:cNvSpPr/>
          <p:nvPr/>
        </p:nvSpPr>
        <p:spPr>
          <a:xfrm>
            <a:off x="11448288" y="128320"/>
            <a:ext cx="107102" cy="107102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6692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✳  SAATHI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964424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problem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6199632"/>
            <a:ext cx="11055096" cy="0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6928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github.com/japi3/agrin  ↗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9326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CB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118872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</a:t>
            </a:r>
            <a:pPr indent="0" marL="0">
              <a:buNone/>
            </a:pPr>
            <a:r>
              <a:rPr lang="en-US" sz="4000" i="1" dirty="0">
                <a:solidFill>
                  <a:srgbClr val="7CB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we're solving</a:t>
            </a:r>
            <a:endParaRPr lang="en-US" sz="4000" dirty="0"/>
          </a:p>
        </p:txBody>
      </p:sp>
      <p:sp>
        <p:nvSpPr>
          <p:cNvPr id="34" name="Shape 32"/>
          <p:cNvSpPr/>
          <p:nvPr/>
        </p:nvSpPr>
        <p:spPr>
          <a:xfrm>
            <a:off x="566928" y="2084832"/>
            <a:ext cx="5486400" cy="1783080"/>
          </a:xfrm>
          <a:prstGeom prst="roundRect">
            <a:avLst>
              <a:gd name="adj" fmla="val 3077"/>
            </a:avLst>
          </a:prstGeom>
          <a:solidFill>
            <a:srgbClr val="241F18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86384" y="2249424"/>
            <a:ext cx="5047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7CB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A FARMER FACES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786384" y="2560320"/>
            <a:ext cx="504748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exists — in English, in PDFs, in offices open 10 to 5.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irrigation or spray decision costs a season's income.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is assumed. For millions of farmers it should not be.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327648" y="2084832"/>
            <a:ext cx="5577840" cy="1783080"/>
          </a:xfrm>
          <a:prstGeom prst="roundRect">
            <a:avLst>
              <a:gd name="adj" fmla="val 3077"/>
            </a:avLst>
          </a:prstGeom>
          <a:solidFill>
            <a:srgbClr val="241F18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47104" y="2249424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7CB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EXISTING TOOLS MISS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547104" y="2560320"/>
            <a:ext cx="513892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chatbots guess confidently and cite nothing.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show data and leave the interpreting to the farmer.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research cannot be pooled: nobody will hand over farm data.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66928" y="4041648"/>
            <a:ext cx="11055096" cy="1737360"/>
          </a:xfrm>
          <a:prstGeom prst="roundRect">
            <a:avLst>
              <a:gd name="adj" fmla="val 3158"/>
            </a:avLst>
          </a:prstGeom>
          <a:solidFill>
            <a:srgbClr val="241F18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86384" y="4206240"/>
            <a:ext cx="10616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7CB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THAT COSTS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786384" y="4517136"/>
            <a:ext cx="1061618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Irrigating a field that did not need it — pumping cost, waterlogging, and yield given away.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disease named wrongly, and a spray bought for it.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at the local rate while a mandi two districts away pays appreciably more.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scheme the farmer qualified for and never heard of.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43416"/>
            <a:ext cx="173680" cy="173680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141101"/>
            <a:ext cx="127032" cy="127032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4" name="Shape 2"/>
          <p:cNvSpPr/>
          <p:nvPr/>
        </p:nvSpPr>
        <p:spPr>
          <a:xfrm>
            <a:off x="694944" y="198406"/>
            <a:ext cx="142364" cy="14236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5" name="Shape 3"/>
          <p:cNvSpPr/>
          <p:nvPr/>
        </p:nvSpPr>
        <p:spPr>
          <a:xfrm>
            <a:off x="950976" y="218474"/>
            <a:ext cx="114768" cy="114768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6" name="Shape 4"/>
          <p:cNvSpPr/>
          <p:nvPr/>
        </p:nvSpPr>
        <p:spPr>
          <a:xfrm>
            <a:off x="1207008" y="60723"/>
            <a:ext cx="104484" cy="104484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7" name="Shape 5"/>
          <p:cNvSpPr/>
          <p:nvPr/>
        </p:nvSpPr>
        <p:spPr>
          <a:xfrm>
            <a:off x="1463040" y="88540"/>
            <a:ext cx="158014" cy="158014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8" name="Shape 6"/>
          <p:cNvSpPr/>
          <p:nvPr/>
        </p:nvSpPr>
        <p:spPr>
          <a:xfrm>
            <a:off x="2487168" y="13294"/>
            <a:ext cx="112610" cy="112610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113453"/>
            <a:ext cx="166420" cy="166420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0" name="Shape 8"/>
          <p:cNvSpPr/>
          <p:nvPr/>
        </p:nvSpPr>
        <p:spPr>
          <a:xfrm>
            <a:off x="2999232" y="79478"/>
            <a:ext cx="148375" cy="148375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1" name="Shape 9"/>
          <p:cNvSpPr/>
          <p:nvPr/>
        </p:nvSpPr>
        <p:spPr>
          <a:xfrm>
            <a:off x="3255264" y="23995"/>
            <a:ext cx="155544" cy="15554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2" name="Shape 10"/>
          <p:cNvSpPr/>
          <p:nvPr/>
        </p:nvSpPr>
        <p:spPr>
          <a:xfrm>
            <a:off x="4023360" y="197832"/>
            <a:ext cx="130033" cy="130033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3" name="Shape 11"/>
          <p:cNvSpPr/>
          <p:nvPr/>
        </p:nvSpPr>
        <p:spPr>
          <a:xfrm>
            <a:off x="4279392" y="72775"/>
            <a:ext cx="153757" cy="153757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4" name="Shape 12"/>
          <p:cNvSpPr/>
          <p:nvPr/>
        </p:nvSpPr>
        <p:spPr>
          <a:xfrm>
            <a:off x="4535424" y="43421"/>
            <a:ext cx="131305" cy="131305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5" name="Shape 13"/>
          <p:cNvSpPr/>
          <p:nvPr/>
        </p:nvSpPr>
        <p:spPr>
          <a:xfrm>
            <a:off x="5047488" y="11782"/>
            <a:ext cx="153124" cy="153124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6" name="Shape 14"/>
          <p:cNvSpPr/>
          <p:nvPr/>
        </p:nvSpPr>
        <p:spPr>
          <a:xfrm>
            <a:off x="6071616" y="95682"/>
            <a:ext cx="111997" cy="111997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7" name="Shape 15"/>
          <p:cNvSpPr/>
          <p:nvPr/>
        </p:nvSpPr>
        <p:spPr>
          <a:xfrm>
            <a:off x="6839712" y="11591"/>
            <a:ext cx="117680" cy="117680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8" name="Shape 16"/>
          <p:cNvSpPr/>
          <p:nvPr/>
        </p:nvSpPr>
        <p:spPr>
          <a:xfrm>
            <a:off x="7095744" y="173512"/>
            <a:ext cx="173018" cy="173018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51776" y="199064"/>
            <a:ext cx="100614" cy="10061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0" name="Shape 18"/>
          <p:cNvSpPr/>
          <p:nvPr/>
        </p:nvSpPr>
        <p:spPr>
          <a:xfrm>
            <a:off x="7607808" y="146826"/>
            <a:ext cx="159690" cy="159690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21" name="Shape 19"/>
          <p:cNvSpPr/>
          <p:nvPr/>
        </p:nvSpPr>
        <p:spPr>
          <a:xfrm>
            <a:off x="8887968" y="78707"/>
            <a:ext cx="148717" cy="148717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0" y="32315"/>
            <a:ext cx="139212" cy="139212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24160" y="151349"/>
            <a:ext cx="114000" cy="11400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80192" y="58711"/>
            <a:ext cx="161274" cy="16127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936224" y="149657"/>
            <a:ext cx="103410" cy="10341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26" name="Shape 24"/>
          <p:cNvSpPr/>
          <p:nvPr/>
        </p:nvSpPr>
        <p:spPr>
          <a:xfrm>
            <a:off x="11192256" y="157192"/>
            <a:ext cx="143248" cy="143248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7" name="Shape 25"/>
          <p:cNvSpPr/>
          <p:nvPr/>
        </p:nvSpPr>
        <p:spPr>
          <a:xfrm>
            <a:off x="11704320" y="58720"/>
            <a:ext cx="111804" cy="111804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6692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✳  SAATHI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964424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What we built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6199632"/>
            <a:ext cx="11055096" cy="0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6928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github.com/japi3/agrin  ↗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9326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CB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118872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</a:t>
            </a:r>
            <a:pPr indent="0" marL="0">
              <a:buNone/>
            </a:pPr>
            <a:r>
              <a:rPr lang="en-US" sz="4000" i="1" dirty="0">
                <a:solidFill>
                  <a:srgbClr val="7CB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</a:t>
            </a:r>
            <a:endParaRPr lang="en-US" sz="4000" dirty="0"/>
          </a:p>
        </p:txBody>
      </p:sp>
      <p:sp>
        <p:nvSpPr>
          <p:cNvPr id="34" name="Shape 32"/>
          <p:cNvSpPr/>
          <p:nvPr/>
        </p:nvSpPr>
        <p:spPr>
          <a:xfrm>
            <a:off x="566928" y="2048256"/>
            <a:ext cx="11055096" cy="1207008"/>
          </a:xfrm>
          <a:prstGeom prst="roundRect">
            <a:avLst>
              <a:gd name="adj" fmla="val 3788"/>
            </a:avLst>
          </a:prstGeom>
          <a:solidFill>
            <a:srgbClr val="241F18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77824" y="2231136"/>
            <a:ext cx="10433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7CB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Saathi </a:t>
            </a:r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B3A2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 a farmer's question by running the same agronomic models an extension officer would use, on their field, and says where every number came from.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566928" y="3456432"/>
            <a:ext cx="3547872" cy="2286000"/>
          </a:xfrm>
          <a:prstGeom prst="roundRect">
            <a:avLst>
              <a:gd name="adj" fmla="val 2400"/>
            </a:avLst>
          </a:prstGeom>
          <a:solidFill>
            <a:srgbClr val="241F18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86384" y="36210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7CB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FARMER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786384" y="3931920"/>
            <a:ext cx="31089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or types, in their own language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Photographs a damaged leaf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 village — no coordinates needed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334256" y="3456432"/>
            <a:ext cx="3547872" cy="2286000"/>
          </a:xfrm>
          <a:prstGeom prst="roundRect">
            <a:avLst>
              <a:gd name="adj" fmla="val 2400"/>
            </a:avLst>
          </a:prstGeom>
          <a:solidFill>
            <a:srgbClr val="241F18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53712" y="36210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7CB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SAATHI ANSWERS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4553712" y="3931920"/>
            <a:ext cx="31089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language and script they wrote in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aloud, for anyone who cannot read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field's own soil, weather and satellite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8101584" y="3456432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241F18"/>
          </a:solidFill>
          <a:ln w="12700">
            <a:solidFill>
              <a:srgbClr val="C2703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321040" y="3621024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27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WHEN IT CANNOT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8321040" y="3931920"/>
            <a:ext cx="308152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refuses: no dose without a lab test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which figures are uncertain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carries its sources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77217"/>
            <a:ext cx="127636" cy="127636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" y="132140"/>
            <a:ext cx="101723" cy="101723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4" name="Shape 2"/>
          <p:cNvSpPr/>
          <p:nvPr/>
        </p:nvSpPr>
        <p:spPr>
          <a:xfrm>
            <a:off x="1719072" y="54256"/>
            <a:ext cx="156114" cy="156114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5" name="Shape 3"/>
          <p:cNvSpPr/>
          <p:nvPr/>
        </p:nvSpPr>
        <p:spPr>
          <a:xfrm>
            <a:off x="1975104" y="107686"/>
            <a:ext cx="103995" cy="103995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6" name="Shape 4"/>
          <p:cNvSpPr/>
          <p:nvPr/>
        </p:nvSpPr>
        <p:spPr>
          <a:xfrm>
            <a:off x="2231136" y="74496"/>
            <a:ext cx="173140" cy="173140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7" name="Shape 5"/>
          <p:cNvSpPr/>
          <p:nvPr/>
        </p:nvSpPr>
        <p:spPr>
          <a:xfrm>
            <a:off x="2487168" y="70967"/>
            <a:ext cx="123137" cy="123137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0" y="173644"/>
            <a:ext cx="159132" cy="159132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9" name="Shape 7"/>
          <p:cNvSpPr/>
          <p:nvPr/>
        </p:nvSpPr>
        <p:spPr>
          <a:xfrm>
            <a:off x="2999232" y="130708"/>
            <a:ext cx="124318" cy="124318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0" name="Shape 8"/>
          <p:cNvSpPr/>
          <p:nvPr/>
        </p:nvSpPr>
        <p:spPr>
          <a:xfrm>
            <a:off x="3255264" y="40492"/>
            <a:ext cx="106252" cy="106252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1" name="Shape 9"/>
          <p:cNvSpPr/>
          <p:nvPr/>
        </p:nvSpPr>
        <p:spPr>
          <a:xfrm>
            <a:off x="3511296" y="182299"/>
            <a:ext cx="159182" cy="159182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2" name="Shape 10"/>
          <p:cNvSpPr/>
          <p:nvPr/>
        </p:nvSpPr>
        <p:spPr>
          <a:xfrm>
            <a:off x="3767328" y="218063"/>
            <a:ext cx="130326" cy="130326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3" name="Shape 11"/>
          <p:cNvSpPr/>
          <p:nvPr/>
        </p:nvSpPr>
        <p:spPr>
          <a:xfrm>
            <a:off x="4023360" y="167297"/>
            <a:ext cx="135320" cy="135320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4" name="Shape 12"/>
          <p:cNvSpPr/>
          <p:nvPr/>
        </p:nvSpPr>
        <p:spPr>
          <a:xfrm>
            <a:off x="4791456" y="21709"/>
            <a:ext cx="117298" cy="117298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5" name="Shape 13"/>
          <p:cNvSpPr/>
          <p:nvPr/>
        </p:nvSpPr>
        <p:spPr>
          <a:xfrm>
            <a:off x="5047488" y="189067"/>
            <a:ext cx="117494" cy="11749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6" name="Shape 14"/>
          <p:cNvSpPr/>
          <p:nvPr/>
        </p:nvSpPr>
        <p:spPr>
          <a:xfrm>
            <a:off x="5303520" y="39551"/>
            <a:ext cx="108230" cy="108230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7" name="Shape 15"/>
          <p:cNvSpPr/>
          <p:nvPr/>
        </p:nvSpPr>
        <p:spPr>
          <a:xfrm>
            <a:off x="5815584" y="198671"/>
            <a:ext cx="156528" cy="156528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8" name="Shape 16"/>
          <p:cNvSpPr/>
          <p:nvPr/>
        </p:nvSpPr>
        <p:spPr>
          <a:xfrm>
            <a:off x="6071616" y="38538"/>
            <a:ext cx="152001" cy="152001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0" y="157901"/>
            <a:ext cx="152119" cy="152119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39712" y="110315"/>
            <a:ext cx="145198" cy="145198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21" name="Shape 19"/>
          <p:cNvSpPr/>
          <p:nvPr/>
        </p:nvSpPr>
        <p:spPr>
          <a:xfrm>
            <a:off x="7095744" y="205227"/>
            <a:ext cx="109011" cy="109011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2" name="Shape 20"/>
          <p:cNvSpPr/>
          <p:nvPr/>
        </p:nvSpPr>
        <p:spPr>
          <a:xfrm>
            <a:off x="7351776" y="172739"/>
            <a:ext cx="122411" cy="122411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3" name="Shape 21"/>
          <p:cNvSpPr/>
          <p:nvPr/>
        </p:nvSpPr>
        <p:spPr>
          <a:xfrm>
            <a:off x="7607808" y="135174"/>
            <a:ext cx="146919" cy="146919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4" name="Shape 22"/>
          <p:cNvSpPr/>
          <p:nvPr/>
        </p:nvSpPr>
        <p:spPr>
          <a:xfrm>
            <a:off x="8631936" y="23666"/>
            <a:ext cx="108185" cy="108185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25" name="Shape 23"/>
          <p:cNvSpPr/>
          <p:nvPr/>
        </p:nvSpPr>
        <p:spPr>
          <a:xfrm>
            <a:off x="9656064" y="128990"/>
            <a:ext cx="124433" cy="124433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6" name="Shape 24"/>
          <p:cNvSpPr/>
          <p:nvPr/>
        </p:nvSpPr>
        <p:spPr>
          <a:xfrm>
            <a:off x="10680192" y="162179"/>
            <a:ext cx="139100" cy="139100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36224" y="63490"/>
            <a:ext cx="167026" cy="167026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8" name="Shape 26"/>
          <p:cNvSpPr/>
          <p:nvPr/>
        </p:nvSpPr>
        <p:spPr>
          <a:xfrm>
            <a:off x="11192256" y="154798"/>
            <a:ext cx="121788" cy="121788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448288" y="213720"/>
            <a:ext cx="108972" cy="108972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0" name="Shape 28"/>
          <p:cNvSpPr/>
          <p:nvPr/>
        </p:nvSpPr>
        <p:spPr>
          <a:xfrm>
            <a:off x="11704320" y="68129"/>
            <a:ext cx="124167" cy="124167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6692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✳  SAATHI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964424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How it works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" y="6199632"/>
            <a:ext cx="11055096" cy="0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66928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github.com/japi3/agrin  ↗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9326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CB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APPROACH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118872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</a:t>
            </a:r>
            <a:pPr indent="0" marL="0">
              <a:buNone/>
            </a:pPr>
            <a:r>
              <a:rPr lang="en-US" sz="4000" i="1" dirty="0">
                <a:solidFill>
                  <a:srgbClr val="7CB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</a:t>
            </a:r>
            <a:endParaRPr lang="en-US" sz="4000" dirty="0"/>
          </a:p>
        </p:txBody>
      </p:sp>
      <p:sp>
        <p:nvSpPr>
          <p:cNvPr id="37" name="Shape 35"/>
          <p:cNvSpPr/>
          <p:nvPr/>
        </p:nvSpPr>
        <p:spPr>
          <a:xfrm>
            <a:off x="566928" y="1993392"/>
            <a:ext cx="5486400" cy="2157984"/>
          </a:xfrm>
          <a:prstGeom prst="roundRect">
            <a:avLst>
              <a:gd name="adj" fmla="val 2542"/>
            </a:avLst>
          </a:prstGeom>
          <a:solidFill>
            <a:srgbClr val="241F18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86384" y="2157984"/>
            <a:ext cx="5047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7CB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AI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786384" y="2468880"/>
            <a:ext cx="504748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3.7 Flash — routing and translation, over 13 tools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TTS — answers read aloud in 24 languages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 — disease named from a photograph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gemini-embedding-001 — retrieval across languages over published guidance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Sixteen key-and-model pairs — no exhausted quota stops a farmer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327648" y="1993392"/>
            <a:ext cx="5577840" cy="2157984"/>
          </a:xfrm>
          <a:prstGeom prst="roundRect">
            <a:avLst>
              <a:gd name="adj" fmla="val 2542"/>
            </a:avLst>
          </a:prstGeom>
          <a:solidFill>
            <a:srgbClr val="241F18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547104" y="2157984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7CB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AGRONOMY IS NOT THE MODEL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547104" y="2468880"/>
            <a:ext cx="513892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FAO-56 Penman-Monteith ET₀ and dual crop coefficient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FAO-33 yield response to water deficit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RothC-26.3 soil carbon, IPCC Tier 3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disease models: Smith Periods, Analytis, Magarey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66928" y="4279392"/>
            <a:ext cx="5486400" cy="1773936"/>
          </a:xfrm>
          <a:prstGeom prst="roundRect">
            <a:avLst>
              <a:gd name="adj" fmla="val 3093"/>
            </a:avLst>
          </a:prstGeom>
          <a:solidFill>
            <a:srgbClr val="241F18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86384" y="4443984"/>
            <a:ext cx="5047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7CB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DATA, NOTHING MOCKED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786384" y="4754880"/>
            <a:ext cx="504748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via Earth Engine and Planetary Computer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ISRIC SoilGrids — 1 km map of India carried locally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weather · Agmarknet prices (data.gov.in)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6,396 passages of Government of India advisory material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6327648" y="4279392"/>
            <a:ext cx="5577840" cy="1773936"/>
          </a:xfrm>
          <a:prstGeom prst="roundRect">
            <a:avLst>
              <a:gd name="adj" fmla="val 3093"/>
            </a:avLst>
          </a:prstGeom>
          <a:solidFill>
            <a:srgbClr val="241F18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547104" y="4443984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7CB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TO BE DEPLOYED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6547104" y="4754880"/>
            <a:ext cx="513892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container: FastAPI serves the API and the PWA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laptop, a VPS, or Cloud Run unchanged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tiers throughout — no key costs a rupee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20207"/>
            <a:ext cx="151987" cy="151987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3" name="Shape 1"/>
          <p:cNvSpPr/>
          <p:nvPr/>
        </p:nvSpPr>
        <p:spPr>
          <a:xfrm>
            <a:off x="2231136" y="134341"/>
            <a:ext cx="157298" cy="157298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4" name="Shape 2"/>
          <p:cNvSpPr/>
          <p:nvPr/>
        </p:nvSpPr>
        <p:spPr>
          <a:xfrm>
            <a:off x="2487168" y="33456"/>
            <a:ext cx="134304" cy="13430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0" y="139809"/>
            <a:ext cx="133684" cy="133684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6" name="Shape 4"/>
          <p:cNvSpPr/>
          <p:nvPr/>
        </p:nvSpPr>
        <p:spPr>
          <a:xfrm>
            <a:off x="3255264" y="179677"/>
            <a:ext cx="103317" cy="103317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7" name="Shape 5"/>
          <p:cNvSpPr/>
          <p:nvPr/>
        </p:nvSpPr>
        <p:spPr>
          <a:xfrm>
            <a:off x="3767328" y="173986"/>
            <a:ext cx="158024" cy="158024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8" name="Shape 6"/>
          <p:cNvSpPr/>
          <p:nvPr/>
        </p:nvSpPr>
        <p:spPr>
          <a:xfrm>
            <a:off x="4023360" y="8678"/>
            <a:ext cx="162077" cy="162077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9" name="Shape 7"/>
          <p:cNvSpPr/>
          <p:nvPr/>
        </p:nvSpPr>
        <p:spPr>
          <a:xfrm>
            <a:off x="4279392" y="25488"/>
            <a:ext cx="105772" cy="105772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0" name="Shape 8"/>
          <p:cNvSpPr/>
          <p:nvPr/>
        </p:nvSpPr>
        <p:spPr>
          <a:xfrm>
            <a:off x="4791456" y="58263"/>
            <a:ext cx="105899" cy="105899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1" name="Shape 9"/>
          <p:cNvSpPr/>
          <p:nvPr/>
        </p:nvSpPr>
        <p:spPr>
          <a:xfrm>
            <a:off x="5303520" y="121736"/>
            <a:ext cx="109369" cy="109369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2" name="Shape 10"/>
          <p:cNvSpPr/>
          <p:nvPr/>
        </p:nvSpPr>
        <p:spPr>
          <a:xfrm>
            <a:off x="5559552" y="50859"/>
            <a:ext cx="117964" cy="117964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3" name="Shape 11"/>
          <p:cNvSpPr/>
          <p:nvPr/>
        </p:nvSpPr>
        <p:spPr>
          <a:xfrm>
            <a:off x="8631936" y="202914"/>
            <a:ext cx="118281" cy="118281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4" name="Shape 12"/>
          <p:cNvSpPr/>
          <p:nvPr/>
        </p:nvSpPr>
        <p:spPr>
          <a:xfrm>
            <a:off x="8887968" y="103161"/>
            <a:ext cx="160345" cy="160345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0" y="38629"/>
            <a:ext cx="132733" cy="132733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24160" y="202041"/>
            <a:ext cx="141301" cy="141301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92256" y="5330"/>
            <a:ext cx="128018" cy="128018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8" name="Shape 16"/>
          <p:cNvSpPr/>
          <p:nvPr/>
        </p:nvSpPr>
        <p:spPr>
          <a:xfrm>
            <a:off x="11448288" y="88993"/>
            <a:ext cx="102781" cy="102781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6692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✳  SAATHI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964424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What it does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6199632"/>
            <a:ext cx="11055096" cy="0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github.com/japi3/agrin  ↗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9326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CB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118872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 </a:t>
            </a:r>
            <a:pPr indent="0" marL="0">
              <a:buNone/>
            </a:pPr>
            <a:r>
              <a:rPr lang="en-US" sz="4000" i="1" dirty="0">
                <a:solidFill>
                  <a:srgbClr val="7CB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19385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7CB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any of 24 languages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504688" y="192024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or text, answered in the script they wrote in, and read back aloud.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66928" y="2432304"/>
            <a:ext cx="11055096" cy="0"/>
          </a:xfrm>
          <a:prstGeom prst="line">
            <a:avLst/>
          </a:prstGeom>
          <a:noFill/>
          <a:ln w="6350">
            <a:solidFill>
              <a:srgbClr val="3A322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" y="252374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7CB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1280160" y="25054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I irrigate?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504688" y="2505456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root-zone water balance on their field — not a rule of thumb.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66928" y="3017520"/>
            <a:ext cx="11055096" cy="0"/>
          </a:xfrm>
          <a:prstGeom prst="line">
            <a:avLst/>
          </a:prstGeom>
          <a:noFill/>
          <a:ln w="6350">
            <a:solidFill>
              <a:srgbClr val="3A322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66928" y="31089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7CB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1280160" y="30906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my crop doing?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504688" y="309067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greenness against what this crop should have at this stage.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66928" y="3602736"/>
            <a:ext cx="11055096" cy="0"/>
          </a:xfrm>
          <a:prstGeom prst="line">
            <a:avLst/>
          </a:prstGeom>
          <a:noFill/>
          <a:ln w="6350">
            <a:solidFill>
              <a:srgbClr val="3A322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66928" y="36941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7CB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900" dirty="0"/>
          </a:p>
        </p:txBody>
      </p:sp>
      <p:sp>
        <p:nvSpPr>
          <p:cNvPr id="38" name="Text 36"/>
          <p:cNvSpPr txBox="1"/>
          <p:nvPr/>
        </p:nvSpPr>
        <p:spPr>
          <a:xfrm>
            <a:off x="1280160" y="36758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wrong with my plant?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5504688" y="3675888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from a photograph, weighted by weather-driven infection pressure.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66928" y="4187952"/>
            <a:ext cx="11055096" cy="0"/>
          </a:xfrm>
          <a:prstGeom prst="line">
            <a:avLst/>
          </a:prstGeom>
          <a:noFill/>
          <a:ln w="6350">
            <a:solidFill>
              <a:srgbClr val="3A322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66928" y="42793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7CB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900" dirty="0"/>
          </a:p>
        </p:txBody>
      </p:sp>
      <p:sp>
        <p:nvSpPr>
          <p:cNvPr id="42" name="Text 40"/>
          <p:cNvSpPr txBox="1"/>
          <p:nvPr/>
        </p:nvSpPr>
        <p:spPr>
          <a:xfrm>
            <a:off x="1280160" y="42611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 worth?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5504688" y="4261104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from the season's water balance, at today's mandi rate and the MSP floor.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66928" y="4773168"/>
            <a:ext cx="11055096" cy="0"/>
          </a:xfrm>
          <a:prstGeom prst="line">
            <a:avLst/>
          </a:prstGeom>
          <a:noFill/>
          <a:ln w="6350">
            <a:solidFill>
              <a:srgbClr val="3A322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66928" y="48646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7CB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900" dirty="0"/>
          </a:p>
        </p:txBody>
      </p:sp>
      <p:sp>
        <p:nvSpPr>
          <p:cNvPr id="46" name="Text 44"/>
          <p:cNvSpPr txBox="1"/>
          <p:nvPr/>
        </p:nvSpPr>
        <p:spPr>
          <a:xfrm>
            <a:off x="1280160" y="4846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am I entitled to?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5504688" y="484632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government schemes, with the screening questions to check before travelling.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66928" y="5358384"/>
            <a:ext cx="11055096" cy="0"/>
          </a:xfrm>
          <a:prstGeom prst="line">
            <a:avLst/>
          </a:prstGeom>
          <a:noFill/>
          <a:ln w="6350">
            <a:solidFill>
              <a:srgbClr val="3A322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66928" y="54498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7CB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900" dirty="0"/>
          </a:p>
        </p:txBody>
      </p:sp>
      <p:sp>
        <p:nvSpPr>
          <p:cNvPr id="50" name="Text 48"/>
          <p:cNvSpPr txBox="1"/>
          <p:nvPr/>
        </p:nvSpPr>
        <p:spPr>
          <a:xfrm>
            <a:off x="1280160" y="54315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book say?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5504688" y="5431536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Varieties, seed rates, spacing, treatment — quoted from published guidance, with the link.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186508"/>
            <a:ext cx="159517" cy="159517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" y="118339"/>
            <a:ext cx="134593" cy="134593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" y="118814"/>
            <a:ext cx="110530" cy="110530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5" name="Shape 3"/>
          <p:cNvSpPr/>
          <p:nvPr/>
        </p:nvSpPr>
        <p:spPr>
          <a:xfrm>
            <a:off x="1975104" y="212636"/>
            <a:ext cx="169041" cy="169041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0" y="213514"/>
            <a:ext cx="134774" cy="134774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7" name="Shape 5"/>
          <p:cNvSpPr/>
          <p:nvPr/>
        </p:nvSpPr>
        <p:spPr>
          <a:xfrm>
            <a:off x="3255264" y="113514"/>
            <a:ext cx="142541" cy="142541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8" name="Shape 6"/>
          <p:cNvSpPr/>
          <p:nvPr/>
        </p:nvSpPr>
        <p:spPr>
          <a:xfrm>
            <a:off x="3767328" y="167283"/>
            <a:ext cx="123356" cy="123356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9" name="Shape 7"/>
          <p:cNvSpPr/>
          <p:nvPr/>
        </p:nvSpPr>
        <p:spPr>
          <a:xfrm>
            <a:off x="4279392" y="138536"/>
            <a:ext cx="113665" cy="113665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0" name="Shape 8"/>
          <p:cNvSpPr/>
          <p:nvPr/>
        </p:nvSpPr>
        <p:spPr>
          <a:xfrm>
            <a:off x="4535424" y="88324"/>
            <a:ext cx="141757" cy="141757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1" name="Shape 9"/>
          <p:cNvSpPr/>
          <p:nvPr/>
        </p:nvSpPr>
        <p:spPr>
          <a:xfrm>
            <a:off x="4791456" y="73555"/>
            <a:ext cx="123501" cy="123501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0" y="64144"/>
            <a:ext cx="105483" cy="105483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3" name="Shape 11"/>
          <p:cNvSpPr/>
          <p:nvPr/>
        </p:nvSpPr>
        <p:spPr>
          <a:xfrm>
            <a:off x="5559552" y="93657"/>
            <a:ext cx="144102" cy="144102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4" name="Shape 12"/>
          <p:cNvSpPr/>
          <p:nvPr/>
        </p:nvSpPr>
        <p:spPr>
          <a:xfrm>
            <a:off x="6071616" y="208401"/>
            <a:ext cx="159937" cy="159937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5" name="Shape 13"/>
          <p:cNvSpPr/>
          <p:nvPr/>
        </p:nvSpPr>
        <p:spPr>
          <a:xfrm>
            <a:off x="6327648" y="180366"/>
            <a:ext cx="163419" cy="163419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0" y="191429"/>
            <a:ext cx="150305" cy="150305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7" name="Shape 15"/>
          <p:cNvSpPr/>
          <p:nvPr/>
        </p:nvSpPr>
        <p:spPr>
          <a:xfrm>
            <a:off x="7095744" y="91394"/>
            <a:ext cx="101393" cy="101393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8" name="Shape 16"/>
          <p:cNvSpPr/>
          <p:nvPr/>
        </p:nvSpPr>
        <p:spPr>
          <a:xfrm>
            <a:off x="7607808" y="188189"/>
            <a:ext cx="118661" cy="118661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9" name="Shape 17"/>
          <p:cNvSpPr/>
          <p:nvPr/>
        </p:nvSpPr>
        <p:spPr>
          <a:xfrm>
            <a:off x="8119872" y="137395"/>
            <a:ext cx="127526" cy="127526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0" name="Shape 18"/>
          <p:cNvSpPr/>
          <p:nvPr/>
        </p:nvSpPr>
        <p:spPr>
          <a:xfrm>
            <a:off x="8375904" y="117186"/>
            <a:ext cx="137611" cy="137611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1" name="Shape 19"/>
          <p:cNvSpPr/>
          <p:nvPr/>
        </p:nvSpPr>
        <p:spPr>
          <a:xfrm>
            <a:off x="8631936" y="179199"/>
            <a:ext cx="118898" cy="118898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2" name="Shape 20"/>
          <p:cNvSpPr/>
          <p:nvPr/>
        </p:nvSpPr>
        <p:spPr>
          <a:xfrm>
            <a:off x="8887968" y="144051"/>
            <a:ext cx="172299" cy="172299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24160" y="37654"/>
            <a:ext cx="154696" cy="154696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80192" y="4116"/>
            <a:ext cx="165162" cy="165162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936224" y="207109"/>
            <a:ext cx="160051" cy="160051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6" name="Shape 24"/>
          <p:cNvSpPr/>
          <p:nvPr/>
        </p:nvSpPr>
        <p:spPr>
          <a:xfrm>
            <a:off x="11192256" y="198477"/>
            <a:ext cx="154772" cy="154772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27" name="Shape 25"/>
          <p:cNvSpPr/>
          <p:nvPr/>
        </p:nvSpPr>
        <p:spPr>
          <a:xfrm>
            <a:off x="11448288" y="139795"/>
            <a:ext cx="118834" cy="118834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6692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✳  SAATHI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964424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Architecture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6199632"/>
            <a:ext cx="11055096" cy="0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6928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github.com/japi3/agrin  ↗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868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CB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112471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fits </a:t>
            </a:r>
            <a:pPr indent="0" marL="0">
              <a:buNone/>
            </a:pPr>
            <a:r>
              <a:rPr lang="en-US" sz="4000" i="1" dirty="0">
                <a:solidFill>
                  <a:srgbClr val="7CB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together</a:t>
            </a:r>
            <a:endParaRPr lang="en-US" sz="4000" dirty="0"/>
          </a:p>
        </p:txBody>
      </p:sp>
      <p:pic>
        <p:nvPicPr>
          <p:cNvPr id="34" name="Image 0" descr="/Users/japleenkaur/Desktop/agrin/deck/Saathi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755648"/>
            <a:ext cx="11640312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39826"/>
            <a:ext cx="129784" cy="129784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124019"/>
            <a:ext cx="132356" cy="132356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" y="213148"/>
            <a:ext cx="164846" cy="164846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199205"/>
            <a:ext cx="135677" cy="135677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6" name="Shape 4"/>
          <p:cNvSpPr/>
          <p:nvPr/>
        </p:nvSpPr>
        <p:spPr>
          <a:xfrm>
            <a:off x="1719072" y="30926"/>
            <a:ext cx="162538" cy="162538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7" name="Shape 5"/>
          <p:cNvSpPr/>
          <p:nvPr/>
        </p:nvSpPr>
        <p:spPr>
          <a:xfrm>
            <a:off x="1975104" y="193335"/>
            <a:ext cx="123318" cy="123318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8" name="Shape 6"/>
          <p:cNvSpPr/>
          <p:nvPr/>
        </p:nvSpPr>
        <p:spPr>
          <a:xfrm>
            <a:off x="2231136" y="104306"/>
            <a:ext cx="142187" cy="142187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3543"/>
            <a:ext cx="144233" cy="144233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0" name="Shape 8"/>
          <p:cNvSpPr/>
          <p:nvPr/>
        </p:nvSpPr>
        <p:spPr>
          <a:xfrm>
            <a:off x="3255264" y="11552"/>
            <a:ext cx="112652" cy="112652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1" name="Shape 9"/>
          <p:cNvSpPr/>
          <p:nvPr/>
        </p:nvSpPr>
        <p:spPr>
          <a:xfrm>
            <a:off x="3767328" y="96641"/>
            <a:ext cx="154579" cy="154579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2" name="Shape 10"/>
          <p:cNvSpPr/>
          <p:nvPr/>
        </p:nvSpPr>
        <p:spPr>
          <a:xfrm>
            <a:off x="4279392" y="159280"/>
            <a:ext cx="121073" cy="121073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3" name="Shape 11"/>
          <p:cNvSpPr/>
          <p:nvPr/>
        </p:nvSpPr>
        <p:spPr>
          <a:xfrm>
            <a:off x="4535424" y="188533"/>
            <a:ext cx="129746" cy="129746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4" name="Shape 12"/>
          <p:cNvSpPr/>
          <p:nvPr/>
        </p:nvSpPr>
        <p:spPr>
          <a:xfrm>
            <a:off x="4791456" y="218214"/>
            <a:ext cx="156325" cy="156325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5" name="Shape 13"/>
          <p:cNvSpPr/>
          <p:nvPr/>
        </p:nvSpPr>
        <p:spPr>
          <a:xfrm>
            <a:off x="5815584" y="12646"/>
            <a:ext cx="151008" cy="151008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6" name="Shape 14"/>
          <p:cNvSpPr/>
          <p:nvPr/>
        </p:nvSpPr>
        <p:spPr>
          <a:xfrm>
            <a:off x="6327648" y="144547"/>
            <a:ext cx="136585" cy="136585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0" y="48937"/>
            <a:ext cx="100827" cy="100827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8" name="Shape 16"/>
          <p:cNvSpPr/>
          <p:nvPr/>
        </p:nvSpPr>
        <p:spPr>
          <a:xfrm>
            <a:off x="8119872" y="131127"/>
            <a:ext cx="172139" cy="172139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9" name="Shape 17"/>
          <p:cNvSpPr/>
          <p:nvPr/>
        </p:nvSpPr>
        <p:spPr>
          <a:xfrm>
            <a:off x="8375904" y="47312"/>
            <a:ext cx="117131" cy="117131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20" name="Shape 18"/>
          <p:cNvSpPr/>
          <p:nvPr/>
        </p:nvSpPr>
        <p:spPr>
          <a:xfrm>
            <a:off x="9400032" y="70193"/>
            <a:ext cx="106595" cy="106595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1" name="Shape 19"/>
          <p:cNvSpPr/>
          <p:nvPr/>
        </p:nvSpPr>
        <p:spPr>
          <a:xfrm>
            <a:off x="9912096" y="14812"/>
            <a:ext cx="127816" cy="127816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24160" y="39950"/>
            <a:ext cx="160612" cy="160612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3" name="Shape 21"/>
          <p:cNvSpPr/>
          <p:nvPr/>
        </p:nvSpPr>
        <p:spPr>
          <a:xfrm>
            <a:off x="10680192" y="215926"/>
            <a:ext cx="153711" cy="153711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4" name="Shape 22"/>
          <p:cNvSpPr/>
          <p:nvPr/>
        </p:nvSpPr>
        <p:spPr>
          <a:xfrm>
            <a:off x="11448288" y="52551"/>
            <a:ext cx="124490" cy="124490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5" name="Shape 23"/>
          <p:cNvSpPr/>
          <p:nvPr/>
        </p:nvSpPr>
        <p:spPr>
          <a:xfrm>
            <a:off x="11704320" y="200235"/>
            <a:ext cx="162512" cy="162512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6692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✳  SAATHI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964424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What we measured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6199632"/>
            <a:ext cx="11055096" cy="0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github.com/japi3/agrin  ↗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9326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CB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118872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</a:t>
            </a:r>
            <a:pPr indent="0" marL="0">
              <a:buNone/>
            </a:pPr>
            <a:r>
              <a:rPr lang="en-US" sz="4000" i="1" dirty="0">
                <a:solidFill>
                  <a:srgbClr val="7CB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</a:t>
            </a:r>
            <a:endParaRPr lang="en-US" sz="4000" dirty="0"/>
          </a:p>
        </p:txBody>
      </p:sp>
      <p:sp>
        <p:nvSpPr>
          <p:cNvPr id="32" name="Shape 30"/>
          <p:cNvSpPr/>
          <p:nvPr/>
        </p:nvSpPr>
        <p:spPr>
          <a:xfrm>
            <a:off x="566928" y="2066544"/>
            <a:ext cx="2615184" cy="1572768"/>
          </a:xfrm>
          <a:prstGeom prst="roundRect">
            <a:avLst>
              <a:gd name="adj" fmla="val 3488"/>
            </a:avLst>
          </a:prstGeom>
          <a:solidFill>
            <a:srgbClr val="241F18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8096" y="2231136"/>
            <a:ext cx="221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7CB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355</a:t>
            </a:r>
            <a:endParaRPr lang="en-US" sz="3400" dirty="0"/>
          </a:p>
        </p:txBody>
      </p:sp>
      <p:sp>
        <p:nvSpPr>
          <p:cNvPr id="34" name="Text 32"/>
          <p:cNvSpPr txBox="1"/>
          <p:nvPr/>
        </p:nvSpPr>
        <p:spPr>
          <a:xfrm>
            <a:off x="768096" y="283464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68096" y="309067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agronomy verified against FAO worked examples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364992" y="2066544"/>
            <a:ext cx="2615184" cy="1572768"/>
          </a:xfrm>
          <a:prstGeom prst="roundRect">
            <a:avLst>
              <a:gd name="adj" fmla="val 3488"/>
            </a:avLst>
          </a:prstGeom>
          <a:solidFill>
            <a:srgbClr val="241F18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566160" y="2231136"/>
            <a:ext cx="221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7CB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400" dirty="0"/>
          </a:p>
        </p:txBody>
      </p:sp>
      <p:sp>
        <p:nvSpPr>
          <p:cNvPr id="38" name="Text 36"/>
          <p:cNvSpPr txBox="1"/>
          <p:nvPr/>
        </p:nvSpPr>
        <p:spPr>
          <a:xfrm>
            <a:off x="3566160" y="283464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3566160" y="309067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and replies, 284 strings each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63056" y="2066544"/>
            <a:ext cx="2615184" cy="1572768"/>
          </a:xfrm>
          <a:prstGeom prst="roundRect">
            <a:avLst>
              <a:gd name="adj" fmla="val 3488"/>
            </a:avLst>
          </a:prstGeom>
          <a:solidFill>
            <a:srgbClr val="241F18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64224" y="2231136"/>
            <a:ext cx="221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7CB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42" name="Text 40"/>
          <p:cNvSpPr txBox="1"/>
          <p:nvPr/>
        </p:nvSpPr>
        <p:spPr>
          <a:xfrm>
            <a:off x="6364224" y="283464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shared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6364224" y="309067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five BRICS nodes, enforced by test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961120" y="2066544"/>
            <a:ext cx="2615184" cy="1572768"/>
          </a:xfrm>
          <a:prstGeom prst="roundRect">
            <a:avLst>
              <a:gd name="adj" fmla="val 3488"/>
            </a:avLst>
          </a:prstGeom>
          <a:solidFill>
            <a:srgbClr val="241F18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162288" y="2231136"/>
            <a:ext cx="221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7CB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 ms</a:t>
            </a:r>
            <a:endParaRPr lang="en-US" sz="3400" dirty="0"/>
          </a:p>
        </p:txBody>
      </p:sp>
      <p:sp>
        <p:nvSpPr>
          <p:cNvPr id="46" name="Text 44"/>
          <p:cNvSpPr txBox="1"/>
          <p:nvPr/>
        </p:nvSpPr>
        <p:spPr>
          <a:xfrm>
            <a:off x="9162288" y="283464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soil, anywhere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9162288" y="309067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Nicobar to Ladakh, from a local map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66928" y="3822192"/>
            <a:ext cx="5486400" cy="1956816"/>
          </a:xfrm>
          <a:prstGeom prst="roundRect">
            <a:avLst>
              <a:gd name="adj" fmla="val 2804"/>
            </a:avLst>
          </a:prstGeom>
          <a:solidFill>
            <a:srgbClr val="241F18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86384" y="3986784"/>
            <a:ext cx="5047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7CB8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 END TO END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786384" y="4297680"/>
            <a:ext cx="504748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FAO-56 reproduces the published Example 18 exactly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Sentinel-2, soil, weather, prices — live, nothing mocked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diagnosis refuses an unusable image rather than guessing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checked by Unicode script, not by asking a model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6327648" y="3822192"/>
            <a:ext cx="5577840" cy="1956816"/>
          </a:xfrm>
          <a:prstGeom prst="roundRect">
            <a:avLst>
              <a:gd name="adj" fmla="val 2804"/>
            </a:avLst>
          </a:prstGeom>
          <a:solidFill>
            <a:srgbClr val="241F18"/>
          </a:solidFill>
          <a:ln w="12700">
            <a:solidFill>
              <a:srgbClr val="C2703D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547104" y="3986784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27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STATED PLAINLY, NOT HIDDEN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6547104" y="4297680"/>
            <a:ext cx="51389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verdicts are calibrated at population level, not per field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 training data is generated — there is no shared BRICS farm dataset yet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km soil is a regional estimate; every card says so and suggests a KVK test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Saathi</dc:title>
  <dc:subject>PptxGenJS Presentation</dc:subject>
  <dc:creator>Harnoor Singh, Japleen Kaur</dc:creator>
  <cp:lastModifiedBy>Harnoor Singh, Japleen Kaur</cp:lastModifiedBy>
  <cp:revision>1</cp:revision>
  <dcterms:created xsi:type="dcterms:W3CDTF">2026-09-29T07:42:17Z</dcterms:created>
  <dcterms:modified xsi:type="dcterms:W3CDTF">2026-09-29T07:42:17Z</dcterms:modified>
</cp:coreProperties>
</file>