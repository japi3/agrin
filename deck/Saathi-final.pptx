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differentiator in the subtitle. Everything else in the deck defends that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contrast at the bottom is the whole pitch in three lines. Read it aloud if you read nothing else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exchange from the running app, not a mock-up.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layers out. Say: the farmer speaks, Gemini routes, validated tools compute, and nothing reaches the farmer that has not been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track's theme. Land the last box: the sovereignty argument is what makes state-level adoption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caveat out loud. Judges trust a team that separates what it built from what it hopes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right-hand box. The refusal to invent impact numbers is the same discipline the product is built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70097"/>
            <a:ext cx="161531" cy="16153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177844"/>
            <a:ext cx="145481" cy="14548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4" name="Shape 2"/>
          <p:cNvSpPr/>
          <p:nvPr/>
        </p:nvSpPr>
        <p:spPr>
          <a:xfrm>
            <a:off x="1975104" y="139604"/>
            <a:ext cx="155305" cy="155305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5" name="Shape 3"/>
          <p:cNvSpPr/>
          <p:nvPr/>
        </p:nvSpPr>
        <p:spPr>
          <a:xfrm>
            <a:off x="2487168" y="172030"/>
            <a:ext cx="167079" cy="167079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136546"/>
            <a:ext cx="143197" cy="14319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7" name="Shape 5"/>
          <p:cNvSpPr/>
          <p:nvPr/>
        </p:nvSpPr>
        <p:spPr>
          <a:xfrm>
            <a:off x="2999232" y="44771"/>
            <a:ext cx="122153" cy="12215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8" name="Shape 6"/>
          <p:cNvSpPr/>
          <p:nvPr/>
        </p:nvSpPr>
        <p:spPr>
          <a:xfrm>
            <a:off x="3255264" y="3813"/>
            <a:ext cx="112812" cy="112812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9" name="Shape 7"/>
          <p:cNvSpPr/>
          <p:nvPr/>
        </p:nvSpPr>
        <p:spPr>
          <a:xfrm>
            <a:off x="4023360" y="3820"/>
            <a:ext cx="106337" cy="106337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61677"/>
            <a:ext cx="120735" cy="120735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1" name="Shape 9"/>
          <p:cNvSpPr/>
          <p:nvPr/>
        </p:nvSpPr>
        <p:spPr>
          <a:xfrm>
            <a:off x="4535424" y="15155"/>
            <a:ext cx="123411" cy="123411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2" name="Shape 10"/>
          <p:cNvSpPr/>
          <p:nvPr/>
        </p:nvSpPr>
        <p:spPr>
          <a:xfrm>
            <a:off x="5047488" y="151826"/>
            <a:ext cx="166682" cy="16668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559552" y="62567"/>
            <a:ext cx="102613" cy="102613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4" name="Shape 12"/>
          <p:cNvSpPr/>
          <p:nvPr/>
        </p:nvSpPr>
        <p:spPr>
          <a:xfrm>
            <a:off x="5815584" y="84902"/>
            <a:ext cx="104064" cy="10406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327648" y="137431"/>
            <a:ext cx="137559" cy="13755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110722"/>
            <a:ext cx="102978" cy="10297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7" name="Shape 15"/>
          <p:cNvSpPr/>
          <p:nvPr/>
        </p:nvSpPr>
        <p:spPr>
          <a:xfrm>
            <a:off x="7095744" y="69765"/>
            <a:ext cx="166591" cy="16659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216362"/>
            <a:ext cx="162256" cy="162256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9" name="Shape 17"/>
          <p:cNvSpPr/>
          <p:nvPr/>
        </p:nvSpPr>
        <p:spPr>
          <a:xfrm>
            <a:off x="8375904" y="33690"/>
            <a:ext cx="148804" cy="14880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169179"/>
            <a:ext cx="148783" cy="14878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1" name="Shape 19"/>
          <p:cNvSpPr/>
          <p:nvPr/>
        </p:nvSpPr>
        <p:spPr>
          <a:xfrm>
            <a:off x="9912096" y="215187"/>
            <a:ext cx="163906" cy="16390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68128" y="80159"/>
            <a:ext cx="131750" cy="13175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24160" y="125112"/>
            <a:ext cx="136318" cy="13631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80192" y="189381"/>
            <a:ext cx="150474" cy="15047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04320" y="3461"/>
            <a:ext cx="161386" cy="16138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6" name="Shape 24"/>
          <p:cNvSpPr/>
          <p:nvPr/>
        </p:nvSpPr>
        <p:spPr>
          <a:xfrm>
            <a:off x="7863840" y="2011680"/>
            <a:ext cx="5852160" cy="5852160"/>
          </a:xfrm>
          <a:prstGeom prst="ellipse">
            <a:avLst/>
          </a:prstGeom>
          <a:solidFill>
            <a:srgbClr val="1F2B1A">
              <a:alpha val="4500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" y="196596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ਸਾਥੀ  ·  SAATHI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2432304"/>
            <a:ext cx="8595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Regenerative agricultural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intelligence, in the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farmer's own voice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71830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actionable number comes from a validated agronomic model — never from the language model.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66928" y="5468112"/>
            <a:ext cx="4754880" cy="0"/>
          </a:xfrm>
          <a:prstGeom prst="line">
            <a:avLst/>
          </a:prstGeom>
          <a:noFill/>
          <a:ln w="12700">
            <a:solidFill>
              <a:srgbClr val="3A322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5614416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4 · AgriN &amp; Regenerative Agricultural Intelligence · BRICS theme: Cooperation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Harnoor Singh · Japleen Kaur · Thapar Institute of Engineering and Technology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97223"/>
            <a:ext cx="103952" cy="10395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3" name="Shape 1"/>
          <p:cNvSpPr/>
          <p:nvPr/>
        </p:nvSpPr>
        <p:spPr>
          <a:xfrm>
            <a:off x="1207008" y="163732"/>
            <a:ext cx="121873" cy="12187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19672"/>
            <a:ext cx="109110" cy="109110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5" name="Shape 3"/>
          <p:cNvSpPr/>
          <p:nvPr/>
        </p:nvSpPr>
        <p:spPr>
          <a:xfrm>
            <a:off x="1975104" y="107174"/>
            <a:ext cx="113491" cy="113491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6" name="Shape 4"/>
          <p:cNvSpPr/>
          <p:nvPr/>
        </p:nvSpPr>
        <p:spPr>
          <a:xfrm>
            <a:off x="2231136" y="160653"/>
            <a:ext cx="129603" cy="12960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7" name="Shape 5"/>
          <p:cNvSpPr/>
          <p:nvPr/>
        </p:nvSpPr>
        <p:spPr>
          <a:xfrm>
            <a:off x="2487168" y="129789"/>
            <a:ext cx="163098" cy="16309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8" name="Shape 6"/>
          <p:cNvSpPr/>
          <p:nvPr/>
        </p:nvSpPr>
        <p:spPr>
          <a:xfrm>
            <a:off x="2999232" y="173639"/>
            <a:ext cx="154476" cy="154476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9" name="Shape 7"/>
          <p:cNvSpPr/>
          <p:nvPr/>
        </p:nvSpPr>
        <p:spPr>
          <a:xfrm>
            <a:off x="4023360" y="136133"/>
            <a:ext cx="124947" cy="12494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218298"/>
            <a:ext cx="150894" cy="15089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1" name="Shape 9"/>
          <p:cNvSpPr/>
          <p:nvPr/>
        </p:nvSpPr>
        <p:spPr>
          <a:xfrm>
            <a:off x="5303520" y="120744"/>
            <a:ext cx="168134" cy="16813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2" name="Shape 10"/>
          <p:cNvSpPr/>
          <p:nvPr/>
        </p:nvSpPr>
        <p:spPr>
          <a:xfrm>
            <a:off x="5559552" y="156772"/>
            <a:ext cx="131885" cy="131885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3" name="Shape 11"/>
          <p:cNvSpPr/>
          <p:nvPr/>
        </p:nvSpPr>
        <p:spPr>
          <a:xfrm>
            <a:off x="6327648" y="172466"/>
            <a:ext cx="125876" cy="12587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46946"/>
            <a:ext cx="103442" cy="103442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5744" y="162606"/>
            <a:ext cx="159538" cy="15953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6" name="Shape 14"/>
          <p:cNvSpPr/>
          <p:nvPr/>
        </p:nvSpPr>
        <p:spPr>
          <a:xfrm>
            <a:off x="7351776" y="1176"/>
            <a:ext cx="147996" cy="14799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7" name="Shape 15"/>
          <p:cNvSpPr/>
          <p:nvPr/>
        </p:nvSpPr>
        <p:spPr>
          <a:xfrm>
            <a:off x="7607808" y="204808"/>
            <a:ext cx="147558" cy="14755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185217"/>
            <a:ext cx="151717" cy="151717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9" name="Shape 17"/>
          <p:cNvSpPr/>
          <p:nvPr/>
        </p:nvSpPr>
        <p:spPr>
          <a:xfrm>
            <a:off x="8119872" y="143472"/>
            <a:ext cx="144299" cy="14429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0" name="Shape 18"/>
          <p:cNvSpPr/>
          <p:nvPr/>
        </p:nvSpPr>
        <p:spPr>
          <a:xfrm>
            <a:off x="8631936" y="178124"/>
            <a:ext cx="140099" cy="14009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0" y="208830"/>
            <a:ext cx="113231" cy="11323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2" name="Shape 20"/>
          <p:cNvSpPr/>
          <p:nvPr/>
        </p:nvSpPr>
        <p:spPr>
          <a:xfrm>
            <a:off x="9400032" y="58212"/>
            <a:ext cx="152165" cy="15216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68128" y="44451"/>
            <a:ext cx="153193" cy="15319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24160" y="79418"/>
            <a:ext cx="126844" cy="126844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80192" y="152234"/>
            <a:ext cx="125560" cy="12556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36224" y="154709"/>
            <a:ext cx="107838" cy="10783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48288" y="128320"/>
            <a:ext cx="107102" cy="107102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problem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LAST-MILE GAP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Advice does not reach the field</a:t>
            </a:r>
            <a:endParaRPr lang="en-US" sz="34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184708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2800" dirty="0"/>
          </a:p>
        </p:txBody>
      </p:sp>
      <p:sp>
        <p:nvSpPr>
          <p:cNvPr id="35" name="Text 33"/>
          <p:cNvSpPr txBox="1"/>
          <p:nvPr/>
        </p:nvSpPr>
        <p:spPr>
          <a:xfrm>
            <a:off x="749808" y="23042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farmers work two hectares or less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(Agriculture Census 2015-16)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51960" y="1901952"/>
            <a:ext cx="0" cy="786384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34840" y="184708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1.08 ha</a:t>
            </a:r>
            <a:endParaRPr lang="en-US" sz="2800" dirty="0"/>
          </a:p>
        </p:txBody>
      </p:sp>
      <p:sp>
        <p:nvSpPr>
          <p:cNvPr id="38" name="Text 36"/>
          <p:cNvSpPr txBox="1"/>
          <p:nvPr/>
        </p:nvSpPr>
        <p:spPr>
          <a:xfrm>
            <a:off x="4434840" y="23042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operational holding — too small to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 one wrong decision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936992" y="1901952"/>
            <a:ext cx="0" cy="786384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19872" y="184708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800" dirty="0"/>
          </a:p>
        </p:txBody>
      </p:sp>
      <p:sp>
        <p:nvSpPr>
          <p:cNvPr id="41" name="Text 39"/>
          <p:cNvSpPr txBox="1"/>
          <p:nvPr/>
        </p:nvSpPr>
        <p:spPr>
          <a:xfrm>
            <a:off x="8119872" y="23042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languages, and an assistant that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is no use to someone who does not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6928" y="2962656"/>
            <a:ext cx="3529584" cy="1627632"/>
          </a:xfrm>
          <a:prstGeom prst="roundRect">
            <a:avLst>
              <a:gd name="adj" fmla="val 2809"/>
            </a:avLst>
          </a:prstGeom>
          <a:solidFill>
            <a:srgbClr val="241F18"/>
          </a:solidFill>
          <a:ln w="12700">
            <a:solidFill>
              <a:srgbClr val="D8A65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6384" y="3127248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IS NOT LOCAL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86384" y="3456432"/>
            <a:ext cx="30906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advisories cannot know this field's soil, its sowing date, or the rain that fell on it last week.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297680" y="2962656"/>
            <a:ext cx="3529584" cy="1627632"/>
          </a:xfrm>
          <a:prstGeom prst="roundRect">
            <a:avLst>
              <a:gd name="adj" fmla="val 2809"/>
            </a:avLst>
          </a:prstGeom>
          <a:solidFill>
            <a:srgbClr val="241F18"/>
          </a:solidFill>
          <a:ln w="12700">
            <a:solidFill>
              <a:srgbClr val="D8A65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17136" y="3127248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FARMER MAY NOT READ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4517136" y="3456432"/>
            <a:ext cx="30906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agricultural software assumes literacy, a smartphone habit and English. That excludes the people who most need it.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028432" y="2962656"/>
            <a:ext cx="3593592" cy="1627632"/>
          </a:xfrm>
          <a:prstGeom prst="roundRect">
            <a:avLst>
              <a:gd name="adj" fmla="val 2809"/>
            </a:avLst>
          </a:prstGeom>
          <a:solidFill>
            <a:srgbClr val="2A1D12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247888" y="31272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THAT GUESSES IS WORSE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8247888" y="3456432"/>
            <a:ext cx="3154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confident, invented irrigation depth is indistinguishable from a correct one to the person standing in the field.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66928" y="4754880"/>
            <a:ext cx="11055096" cy="1243584"/>
          </a:xfrm>
          <a:prstGeom prst="roundRect">
            <a:avLst>
              <a:gd name="adj" fmla="val 3676"/>
            </a:avLst>
          </a:prstGeom>
          <a:solidFill>
            <a:srgbClr val="12100C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86384" y="4919472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QUESTION, TWO ANSWERS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786384" y="5248656"/>
            <a:ext cx="10616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“Should I irrigate my wheat today?”</a:t>
            </a:r>
            <a:endParaRPr lang="en-US" sz="1250" dirty="0"/>
          </a:p>
          <a:p>
            <a:pPr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chatbot:  “Wheat usually needs irrigation every 20–25 days, around crown root initiation…”</a:t>
            </a:r>
            <a:endParaRPr lang="en-US" sz="1250" dirty="0"/>
          </a:p>
          <a:p>
            <a:pPr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Saathi:  “No water this week. Your root zone holds 62 mm and the crop needs 41 mm before Friday's rain.”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43416"/>
            <a:ext cx="173680" cy="17368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141101"/>
            <a:ext cx="127032" cy="12703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" y="198406"/>
            <a:ext cx="142364" cy="14236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218474"/>
            <a:ext cx="114768" cy="11476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6" name="Shape 4"/>
          <p:cNvSpPr/>
          <p:nvPr/>
        </p:nvSpPr>
        <p:spPr>
          <a:xfrm>
            <a:off x="1207008" y="60723"/>
            <a:ext cx="104484" cy="10448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88540"/>
            <a:ext cx="158014" cy="158014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8" name="Shape 6"/>
          <p:cNvSpPr/>
          <p:nvPr/>
        </p:nvSpPr>
        <p:spPr>
          <a:xfrm>
            <a:off x="2487168" y="13294"/>
            <a:ext cx="112610" cy="11261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113453"/>
            <a:ext cx="166420" cy="16642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0" name="Shape 8"/>
          <p:cNvSpPr/>
          <p:nvPr/>
        </p:nvSpPr>
        <p:spPr>
          <a:xfrm>
            <a:off x="2999232" y="79478"/>
            <a:ext cx="148375" cy="148375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1" name="Shape 9"/>
          <p:cNvSpPr/>
          <p:nvPr/>
        </p:nvSpPr>
        <p:spPr>
          <a:xfrm>
            <a:off x="3255264" y="23995"/>
            <a:ext cx="155544" cy="15554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197832"/>
            <a:ext cx="130033" cy="13003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4279392" y="72775"/>
            <a:ext cx="153757" cy="15375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4" name="Shape 12"/>
          <p:cNvSpPr/>
          <p:nvPr/>
        </p:nvSpPr>
        <p:spPr>
          <a:xfrm>
            <a:off x="4535424" y="43421"/>
            <a:ext cx="131305" cy="131305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5" name="Shape 13"/>
          <p:cNvSpPr/>
          <p:nvPr/>
        </p:nvSpPr>
        <p:spPr>
          <a:xfrm>
            <a:off x="5047488" y="11782"/>
            <a:ext cx="153124" cy="153124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6" name="Shape 14"/>
          <p:cNvSpPr/>
          <p:nvPr/>
        </p:nvSpPr>
        <p:spPr>
          <a:xfrm>
            <a:off x="6071616" y="95682"/>
            <a:ext cx="111997" cy="11199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7" name="Shape 15"/>
          <p:cNvSpPr/>
          <p:nvPr/>
        </p:nvSpPr>
        <p:spPr>
          <a:xfrm>
            <a:off x="6839712" y="11591"/>
            <a:ext cx="117680" cy="11768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8" name="Shape 16"/>
          <p:cNvSpPr/>
          <p:nvPr/>
        </p:nvSpPr>
        <p:spPr>
          <a:xfrm>
            <a:off x="7095744" y="173512"/>
            <a:ext cx="173018" cy="17301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9" name="Shape 17"/>
          <p:cNvSpPr/>
          <p:nvPr/>
        </p:nvSpPr>
        <p:spPr>
          <a:xfrm>
            <a:off x="7351776" y="199064"/>
            <a:ext cx="100614" cy="10061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0" name="Shape 18"/>
          <p:cNvSpPr/>
          <p:nvPr/>
        </p:nvSpPr>
        <p:spPr>
          <a:xfrm>
            <a:off x="7607808" y="146826"/>
            <a:ext cx="159690" cy="15969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887968" y="78707"/>
            <a:ext cx="148717" cy="148717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0" y="32315"/>
            <a:ext cx="139212" cy="13921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24160" y="151349"/>
            <a:ext cx="114000" cy="1140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80192" y="58711"/>
            <a:ext cx="161274" cy="16127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36224" y="149657"/>
            <a:ext cx="103410" cy="10341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92256" y="157192"/>
            <a:ext cx="143248" cy="14324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7" name="Shape 25"/>
          <p:cNvSpPr/>
          <p:nvPr/>
        </p:nvSpPr>
        <p:spPr>
          <a:xfrm>
            <a:off x="11704320" y="58720"/>
            <a:ext cx="111804" cy="111804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product, working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REAL EXCHANGE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Punjabi question, answered from a source</a:t>
            </a:r>
            <a:endParaRPr lang="en-US" sz="3400" dirty="0"/>
          </a:p>
        </p:txBody>
      </p:sp>
      <p:sp>
        <p:nvSpPr>
          <p:cNvPr id="34" name="Shape 32"/>
          <p:cNvSpPr/>
          <p:nvPr/>
        </p:nvSpPr>
        <p:spPr>
          <a:xfrm>
            <a:off x="566928" y="1847088"/>
            <a:ext cx="5486400" cy="3200400"/>
          </a:xfrm>
          <a:prstGeom prst="roundRect">
            <a:avLst>
              <a:gd name="adj" fmla="val 1429"/>
            </a:avLst>
          </a:prstGeom>
          <a:solidFill>
            <a:srgbClr val="12100C"/>
          </a:solidFill>
          <a:ln w="12700">
            <a:solidFill>
              <a:srgbClr val="D8A65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6384" y="2011680"/>
            <a:ext cx="5047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FARMER SAID AND HEARD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" y="2340864"/>
            <a:ext cx="50474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“ਕਣਕ ਦੀ ਬਿਜਾਈ ਤੋਂ ਪਹਿਲਾਂ ਬੀਜ ਦਾ ਇਲਾਜ ਕੀ ਹੈ?”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(What seed treatment before sowing wheat?)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“ਕਾਂਗਿਆਰੀ ਤੋਂ ਬਚਾਅ ਲਈ 40 ਕਿੱਲੋ ਬੀਜ ਨੂੰ 13 ਮਿਲੀਲੀਟਰ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ਟੈਬੂਕੋਨਾਜ਼ੋਲ 400 ਮਿਲੀਲੀਟਰ ਪਾਣੀ ਵਿੱਚ ਘੋਲ ਕੇ ਲਗਾਓ…”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Spoken back in Gurmukhi, with the source page linked beneath.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81928" y="1847088"/>
            <a:ext cx="5340096" cy="3200400"/>
          </a:xfrm>
          <a:prstGeom prst="roundRect">
            <a:avLst>
              <a:gd name="adj" fmla="val 1429"/>
            </a:avLst>
          </a:prstGeom>
          <a:solidFill>
            <a:srgbClr val="241F18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01384" y="2011680"/>
            <a:ext cx="4901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IN BETWEEN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501384" y="2340864"/>
            <a:ext cx="49011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Speech → text, with a silence guard so an empty recording never becomes an invented sentence.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Script detected in code — Gurmukhi in, Gurmukhi out — before the model sees the question.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Gemini routes it to the guidance tool: seed treatment is written down, not computed.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Retrieval searches 4,096 passages of government advisory material. Best match 0.77.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Every figure in the reply is checked back against the passage it came from.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Answer read aloud in Punjabi.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5193792"/>
            <a:ext cx="11055096" cy="786384"/>
          </a:xfrm>
          <a:prstGeom prst="roundRect">
            <a:avLst>
              <a:gd name="adj" fmla="val 5814"/>
            </a:avLst>
          </a:prstGeom>
          <a:solidFill>
            <a:srgbClr val="12100C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6384" y="5358384"/>
            <a:ext cx="10616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is English. The question was Punjabi. Cross-language retrieval is what makes one corpus serve twenty-four languages — and the source link means the farmer, or the officer they show the phone to, can open the original page.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7217"/>
            <a:ext cx="127636" cy="127636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132140"/>
            <a:ext cx="101723" cy="10172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4" name="Shape 2"/>
          <p:cNvSpPr/>
          <p:nvPr/>
        </p:nvSpPr>
        <p:spPr>
          <a:xfrm>
            <a:off x="1719072" y="54256"/>
            <a:ext cx="156114" cy="15611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5" name="Shape 3"/>
          <p:cNvSpPr/>
          <p:nvPr/>
        </p:nvSpPr>
        <p:spPr>
          <a:xfrm>
            <a:off x="1975104" y="107686"/>
            <a:ext cx="103995" cy="10399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6" name="Shape 4"/>
          <p:cNvSpPr/>
          <p:nvPr/>
        </p:nvSpPr>
        <p:spPr>
          <a:xfrm>
            <a:off x="2231136" y="74496"/>
            <a:ext cx="173140" cy="17314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7" name="Shape 5"/>
          <p:cNvSpPr/>
          <p:nvPr/>
        </p:nvSpPr>
        <p:spPr>
          <a:xfrm>
            <a:off x="2487168" y="70967"/>
            <a:ext cx="123137" cy="12313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173644"/>
            <a:ext cx="159132" cy="159132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9" name="Shape 7"/>
          <p:cNvSpPr/>
          <p:nvPr/>
        </p:nvSpPr>
        <p:spPr>
          <a:xfrm>
            <a:off x="2999232" y="130708"/>
            <a:ext cx="124318" cy="12431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0" name="Shape 8"/>
          <p:cNvSpPr/>
          <p:nvPr/>
        </p:nvSpPr>
        <p:spPr>
          <a:xfrm>
            <a:off x="3255264" y="40492"/>
            <a:ext cx="106252" cy="10625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1" name="Shape 9"/>
          <p:cNvSpPr/>
          <p:nvPr/>
        </p:nvSpPr>
        <p:spPr>
          <a:xfrm>
            <a:off x="3511296" y="182299"/>
            <a:ext cx="159182" cy="15918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2" name="Shape 10"/>
          <p:cNvSpPr/>
          <p:nvPr/>
        </p:nvSpPr>
        <p:spPr>
          <a:xfrm>
            <a:off x="3767328" y="218063"/>
            <a:ext cx="130326" cy="13032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4023360" y="167297"/>
            <a:ext cx="135320" cy="135320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4" name="Shape 12"/>
          <p:cNvSpPr/>
          <p:nvPr/>
        </p:nvSpPr>
        <p:spPr>
          <a:xfrm>
            <a:off x="4791456" y="21709"/>
            <a:ext cx="117298" cy="11729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5" name="Shape 13"/>
          <p:cNvSpPr/>
          <p:nvPr/>
        </p:nvSpPr>
        <p:spPr>
          <a:xfrm>
            <a:off x="5047488" y="189067"/>
            <a:ext cx="117494" cy="11749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6" name="Shape 14"/>
          <p:cNvSpPr/>
          <p:nvPr/>
        </p:nvSpPr>
        <p:spPr>
          <a:xfrm>
            <a:off x="5303520" y="39551"/>
            <a:ext cx="108230" cy="10823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7" name="Shape 15"/>
          <p:cNvSpPr/>
          <p:nvPr/>
        </p:nvSpPr>
        <p:spPr>
          <a:xfrm>
            <a:off x="5815584" y="198671"/>
            <a:ext cx="156528" cy="156528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8" name="Shape 16"/>
          <p:cNvSpPr/>
          <p:nvPr/>
        </p:nvSpPr>
        <p:spPr>
          <a:xfrm>
            <a:off x="6071616" y="38538"/>
            <a:ext cx="152001" cy="15200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157901"/>
            <a:ext cx="152119" cy="152119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39712" y="110315"/>
            <a:ext cx="145198" cy="145198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1" name="Shape 19"/>
          <p:cNvSpPr/>
          <p:nvPr/>
        </p:nvSpPr>
        <p:spPr>
          <a:xfrm>
            <a:off x="7095744" y="205227"/>
            <a:ext cx="109011" cy="10901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2" name="Shape 20"/>
          <p:cNvSpPr/>
          <p:nvPr/>
        </p:nvSpPr>
        <p:spPr>
          <a:xfrm>
            <a:off x="7351776" y="172739"/>
            <a:ext cx="122411" cy="12241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3" name="Shape 21"/>
          <p:cNvSpPr/>
          <p:nvPr/>
        </p:nvSpPr>
        <p:spPr>
          <a:xfrm>
            <a:off x="7607808" y="135174"/>
            <a:ext cx="146919" cy="14691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4" name="Shape 22"/>
          <p:cNvSpPr/>
          <p:nvPr/>
        </p:nvSpPr>
        <p:spPr>
          <a:xfrm>
            <a:off x="8631936" y="23666"/>
            <a:ext cx="108185" cy="108185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5" name="Shape 23"/>
          <p:cNvSpPr/>
          <p:nvPr/>
        </p:nvSpPr>
        <p:spPr>
          <a:xfrm>
            <a:off x="9656064" y="128990"/>
            <a:ext cx="124433" cy="124433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80192" y="162179"/>
            <a:ext cx="139100" cy="13910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36224" y="63490"/>
            <a:ext cx="167026" cy="167026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92256" y="154798"/>
            <a:ext cx="121788" cy="12178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48288" y="213720"/>
            <a:ext cx="108972" cy="10897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04320" y="68129"/>
            <a:ext cx="124167" cy="124167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What it does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farmer can ask today</a:t>
            </a:r>
            <a:endParaRPr lang="en-US" sz="34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18653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1188720" y="18470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 irrigate?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5047488" y="184708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root-zone water balance on their field — not a calendar rule.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2322576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241401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1188720" y="2395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my crop doing?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5047488" y="239572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greenness against what this crop should have at this stage.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66928" y="2871216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66928" y="296265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46" name="Text 44"/>
          <p:cNvSpPr txBox="1"/>
          <p:nvPr/>
        </p:nvSpPr>
        <p:spPr>
          <a:xfrm>
            <a:off x="1188720" y="29443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 with this plant?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5047488" y="2944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from a photograph, weighted by weather-driven infection pressure.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66928" y="3419856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66928" y="351129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1188720" y="34930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my soil like?</a:t>
            </a:r>
            <a:endParaRPr lang="en-US" sz="1350" dirty="0"/>
          </a:p>
        </p:txBody>
      </p:sp>
      <p:sp>
        <p:nvSpPr>
          <p:cNvPr id="51" name="Text 49"/>
          <p:cNvSpPr txBox="1"/>
          <p:nvPr/>
        </p:nvSpPr>
        <p:spPr>
          <a:xfrm>
            <a:off x="5047488" y="3493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ISRIC SoilGrids, carried locally — anywhere in India answers in ~6 ms.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66928" y="3968496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66928" y="40599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54" name="Text 52"/>
          <p:cNvSpPr txBox="1"/>
          <p:nvPr/>
        </p:nvSpPr>
        <p:spPr>
          <a:xfrm>
            <a:off x="1188720" y="40416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 worth?</a:t>
            </a:r>
            <a:endParaRPr lang="en-US" sz="1350" dirty="0"/>
          </a:p>
        </p:txBody>
      </p:sp>
      <p:sp>
        <p:nvSpPr>
          <p:cNvPr id="55" name="Text 53"/>
          <p:cNvSpPr txBox="1"/>
          <p:nvPr/>
        </p:nvSpPr>
        <p:spPr>
          <a:xfrm>
            <a:off x="5047488" y="404164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from the season's water balance, at today's mandi rate and the MSP floor.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66928" y="4517136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66928" y="46085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58" name="Text 56"/>
          <p:cNvSpPr txBox="1"/>
          <p:nvPr/>
        </p:nvSpPr>
        <p:spPr>
          <a:xfrm>
            <a:off x="1188720" y="45902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am I entitled to?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5047488" y="459028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government schemes, with the screening questions to check before travelling.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66928" y="5065776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66928" y="515721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700" dirty="0"/>
          </a:p>
        </p:txBody>
      </p:sp>
      <p:sp>
        <p:nvSpPr>
          <p:cNvPr id="62" name="Text 60"/>
          <p:cNvSpPr txBox="1"/>
          <p:nvPr/>
        </p:nvSpPr>
        <p:spPr>
          <a:xfrm>
            <a:off x="1188720" y="51389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book say?</a:t>
            </a:r>
            <a:endParaRPr lang="en-US" sz="1350" dirty="0"/>
          </a:p>
        </p:txBody>
      </p:sp>
      <p:sp>
        <p:nvSpPr>
          <p:cNvPr id="63" name="Text 61"/>
          <p:cNvSpPr txBox="1"/>
          <p:nvPr/>
        </p:nvSpPr>
        <p:spPr>
          <a:xfrm>
            <a:off x="5047488" y="513892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Varieties, seed rates, spacing, treatment — quoted, with the source link.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566928" y="5760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anything else. It is a capable assistant, not a crop bot.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20207"/>
            <a:ext cx="151987" cy="15198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3" name="Shape 1"/>
          <p:cNvSpPr/>
          <p:nvPr/>
        </p:nvSpPr>
        <p:spPr>
          <a:xfrm>
            <a:off x="2231136" y="134341"/>
            <a:ext cx="157298" cy="157298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4" name="Shape 2"/>
          <p:cNvSpPr/>
          <p:nvPr/>
        </p:nvSpPr>
        <p:spPr>
          <a:xfrm>
            <a:off x="2487168" y="33456"/>
            <a:ext cx="134304" cy="13430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139809"/>
            <a:ext cx="133684" cy="13368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6" name="Shape 4"/>
          <p:cNvSpPr/>
          <p:nvPr/>
        </p:nvSpPr>
        <p:spPr>
          <a:xfrm>
            <a:off x="3255264" y="179677"/>
            <a:ext cx="103317" cy="103317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7" name="Shape 5"/>
          <p:cNvSpPr/>
          <p:nvPr/>
        </p:nvSpPr>
        <p:spPr>
          <a:xfrm>
            <a:off x="3767328" y="173986"/>
            <a:ext cx="158024" cy="158024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8" name="Shape 6"/>
          <p:cNvSpPr/>
          <p:nvPr/>
        </p:nvSpPr>
        <p:spPr>
          <a:xfrm>
            <a:off x="4023360" y="8678"/>
            <a:ext cx="162077" cy="162077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9" name="Shape 7"/>
          <p:cNvSpPr/>
          <p:nvPr/>
        </p:nvSpPr>
        <p:spPr>
          <a:xfrm>
            <a:off x="4279392" y="25488"/>
            <a:ext cx="105772" cy="10577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0" name="Shape 8"/>
          <p:cNvSpPr/>
          <p:nvPr/>
        </p:nvSpPr>
        <p:spPr>
          <a:xfrm>
            <a:off x="4791456" y="58263"/>
            <a:ext cx="105899" cy="10589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1" name="Shape 9"/>
          <p:cNvSpPr/>
          <p:nvPr/>
        </p:nvSpPr>
        <p:spPr>
          <a:xfrm>
            <a:off x="5303520" y="121736"/>
            <a:ext cx="109369" cy="109369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2" name="Shape 10"/>
          <p:cNvSpPr/>
          <p:nvPr/>
        </p:nvSpPr>
        <p:spPr>
          <a:xfrm>
            <a:off x="5559552" y="50859"/>
            <a:ext cx="117964" cy="11796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31936" y="202914"/>
            <a:ext cx="118281" cy="11828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4" name="Shape 12"/>
          <p:cNvSpPr/>
          <p:nvPr/>
        </p:nvSpPr>
        <p:spPr>
          <a:xfrm>
            <a:off x="8887968" y="103161"/>
            <a:ext cx="160345" cy="16034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0" y="38629"/>
            <a:ext cx="132733" cy="13273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202041"/>
            <a:ext cx="141301" cy="141301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92256" y="5330"/>
            <a:ext cx="128018" cy="12801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48288" y="88993"/>
            <a:ext cx="102781" cy="10278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rule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TRUST LAYER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never computes agronomy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566928" y="1883664"/>
            <a:ext cx="3529584" cy="1737360"/>
          </a:xfrm>
          <a:prstGeom prst="roundRect">
            <a:avLst>
              <a:gd name="adj" fmla="val 2632"/>
            </a:avLst>
          </a:prstGeom>
          <a:solidFill>
            <a:srgbClr val="241F18"/>
          </a:solidFill>
          <a:ln w="12700">
            <a:solidFill>
              <a:srgbClr val="D8A6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" y="204825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UNDERSTANDS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" y="2377440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Listens, detects the language, routes to a tool, explains the result and speaks it back. It never produces the number.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97680" y="1883664"/>
            <a:ext cx="3529584" cy="1737360"/>
          </a:xfrm>
          <a:prstGeom prst="roundRect">
            <a:avLst>
              <a:gd name="adj" fmla="val 2632"/>
            </a:avLst>
          </a:prstGeom>
          <a:solidFill>
            <a:srgbClr val="241F18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17136" y="204825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CALCULATE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17136" y="2377440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FAO-56 water balance · FAO-33 yield response · RothC-26.3 soil carbon · 12 disease models · Sentinel-2 canopy.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28432" y="1883664"/>
            <a:ext cx="3593592" cy="1737360"/>
          </a:xfrm>
          <a:prstGeom prst="roundRect">
            <a:avLst>
              <a:gd name="adj" fmla="val 2632"/>
            </a:avLst>
          </a:prstGeom>
          <a:solidFill>
            <a:srgbClr val="2A1D12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47888" y="204825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DECIDES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23774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cannot answer abstains. A quoted answer is checked back against its source before it is shown.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3785616"/>
            <a:ext cx="11055096" cy="1207008"/>
          </a:xfrm>
          <a:prstGeom prst="roundRect">
            <a:avLst>
              <a:gd name="adj" fmla="val 3788"/>
            </a:avLst>
          </a:prstGeom>
          <a:solidFill>
            <a:srgbClr val="12100C"/>
          </a:solidFill>
          <a:ln w="12700">
            <a:solidFill>
              <a:srgbClr val="D8A65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6384" y="3950208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WHOLE ARCHITECTURE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" y="4279392"/>
            <a:ext cx="10616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asked for an irrigation depth returns a fluent, confident, unfalsifiable number, and it is indistinguishable from a correct one to the person standing in the field. Separating the two roles is also why swapping model families mid-build touched one file: the agronomy never depended on the model.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49808" y="5138928"/>
            <a:ext cx="25077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8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" y="5596128"/>
            <a:ext cx="2507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the model can call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30702" y="5193792"/>
            <a:ext cx="0" cy="786384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513582" y="5138928"/>
            <a:ext cx="25077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800" dirty="0"/>
          </a:p>
        </p:txBody>
      </p:sp>
      <p:sp>
        <p:nvSpPr>
          <p:cNvPr id="41" name="Text 39"/>
          <p:cNvSpPr txBox="1"/>
          <p:nvPr/>
        </p:nvSpPr>
        <p:spPr>
          <a:xfrm>
            <a:off x="3513582" y="5596128"/>
            <a:ext cx="2507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voice in and out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94476" y="5193792"/>
            <a:ext cx="0" cy="786384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77356" y="5138928"/>
            <a:ext cx="25077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484</a:t>
            </a:r>
            <a:endParaRPr lang="en-US" sz="2800" dirty="0"/>
          </a:p>
        </p:txBody>
      </p:sp>
      <p:sp>
        <p:nvSpPr>
          <p:cNvPr id="44" name="Text 42"/>
          <p:cNvSpPr txBox="1"/>
          <p:nvPr/>
        </p:nvSpPr>
        <p:spPr>
          <a:xfrm>
            <a:off x="6277356" y="5596128"/>
            <a:ext cx="2507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858250" y="5193792"/>
            <a:ext cx="0" cy="786384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041130" y="5138928"/>
            <a:ext cx="25077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 kB</a:t>
            </a:r>
            <a:endParaRPr lang="en-US" sz="2800" dirty="0"/>
          </a:p>
        </p:txBody>
      </p:sp>
      <p:sp>
        <p:nvSpPr>
          <p:cNvPr id="47" name="Text 45"/>
          <p:cNvSpPr txBox="1"/>
          <p:nvPr/>
        </p:nvSpPr>
        <p:spPr>
          <a:xfrm>
            <a:off x="9041130" y="5596128"/>
            <a:ext cx="2507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JavaScript, gzipped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995"/>
            <a:ext cx="140614" cy="14061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93531"/>
            <a:ext cx="117646" cy="11764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4" name="Shape 2"/>
          <p:cNvSpPr/>
          <p:nvPr/>
        </p:nvSpPr>
        <p:spPr>
          <a:xfrm>
            <a:off x="2231136" y="163343"/>
            <a:ext cx="163713" cy="16371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5" name="Shape 3"/>
          <p:cNvSpPr/>
          <p:nvPr/>
        </p:nvSpPr>
        <p:spPr>
          <a:xfrm>
            <a:off x="2487168" y="42378"/>
            <a:ext cx="105582" cy="10558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764"/>
            <a:ext cx="170504" cy="17050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7" name="Shape 5"/>
          <p:cNvSpPr/>
          <p:nvPr/>
        </p:nvSpPr>
        <p:spPr>
          <a:xfrm>
            <a:off x="3255264" y="207300"/>
            <a:ext cx="139541" cy="13954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8" name="Shape 6"/>
          <p:cNvSpPr/>
          <p:nvPr/>
        </p:nvSpPr>
        <p:spPr>
          <a:xfrm>
            <a:off x="3511296" y="23782"/>
            <a:ext cx="104833" cy="10483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9" name="Shape 7"/>
          <p:cNvSpPr/>
          <p:nvPr/>
        </p:nvSpPr>
        <p:spPr>
          <a:xfrm>
            <a:off x="3767328" y="162180"/>
            <a:ext cx="118192" cy="11819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0" y="166235"/>
            <a:ext cx="168956" cy="168956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1" name="Shape 9"/>
          <p:cNvSpPr/>
          <p:nvPr/>
        </p:nvSpPr>
        <p:spPr>
          <a:xfrm>
            <a:off x="4279392" y="69487"/>
            <a:ext cx="141229" cy="14122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35424" y="93856"/>
            <a:ext cx="121535" cy="121535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3" name="Shape 11"/>
          <p:cNvSpPr/>
          <p:nvPr/>
        </p:nvSpPr>
        <p:spPr>
          <a:xfrm>
            <a:off x="4791456" y="101168"/>
            <a:ext cx="149670" cy="14967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4" name="Shape 12"/>
          <p:cNvSpPr/>
          <p:nvPr/>
        </p:nvSpPr>
        <p:spPr>
          <a:xfrm>
            <a:off x="5303520" y="66833"/>
            <a:ext cx="137292" cy="13729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5" name="Shape 13"/>
          <p:cNvSpPr/>
          <p:nvPr/>
        </p:nvSpPr>
        <p:spPr>
          <a:xfrm>
            <a:off x="5559552" y="56068"/>
            <a:ext cx="145684" cy="14568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6" name="Shape 14"/>
          <p:cNvSpPr/>
          <p:nvPr/>
        </p:nvSpPr>
        <p:spPr>
          <a:xfrm>
            <a:off x="5815584" y="136760"/>
            <a:ext cx="121523" cy="121523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7" name="Shape 15"/>
          <p:cNvSpPr/>
          <p:nvPr/>
        </p:nvSpPr>
        <p:spPr>
          <a:xfrm>
            <a:off x="6071616" y="12523"/>
            <a:ext cx="158362" cy="158362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7648" y="51369"/>
            <a:ext cx="115064" cy="115064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9" name="Shape 17"/>
          <p:cNvSpPr/>
          <p:nvPr/>
        </p:nvSpPr>
        <p:spPr>
          <a:xfrm>
            <a:off x="6839712" y="105414"/>
            <a:ext cx="105454" cy="10545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0" name="Shape 18"/>
          <p:cNvSpPr/>
          <p:nvPr/>
        </p:nvSpPr>
        <p:spPr>
          <a:xfrm>
            <a:off x="7095744" y="205424"/>
            <a:ext cx="160950" cy="16095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51776" y="7057"/>
            <a:ext cx="151231" cy="151231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2" name="Shape 20"/>
          <p:cNvSpPr/>
          <p:nvPr/>
        </p:nvSpPr>
        <p:spPr>
          <a:xfrm>
            <a:off x="7607808" y="80803"/>
            <a:ext cx="113471" cy="113471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3" name="Shape 21"/>
          <p:cNvSpPr/>
          <p:nvPr/>
        </p:nvSpPr>
        <p:spPr>
          <a:xfrm>
            <a:off x="8631936" y="194410"/>
            <a:ext cx="122967" cy="12296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0" y="188171"/>
            <a:ext cx="101983" cy="10198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5" name="Shape 23"/>
          <p:cNvSpPr/>
          <p:nvPr/>
        </p:nvSpPr>
        <p:spPr>
          <a:xfrm>
            <a:off x="9656064" y="102140"/>
            <a:ext cx="158429" cy="158429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6" name="Shape 24"/>
          <p:cNvSpPr/>
          <p:nvPr/>
        </p:nvSpPr>
        <p:spPr>
          <a:xfrm>
            <a:off x="9912096" y="145343"/>
            <a:ext cx="126009" cy="126009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80192" y="54313"/>
            <a:ext cx="125518" cy="125518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36224" y="81350"/>
            <a:ext cx="103818" cy="10381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92256" y="70603"/>
            <a:ext cx="151856" cy="151856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704320" y="116076"/>
            <a:ext cx="128283" cy="128283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Architecture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FITS TOGETHER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end to end</a:t>
            </a:r>
            <a:endParaRPr lang="en-US" sz="3400" dirty="0"/>
          </a:p>
        </p:txBody>
      </p:sp>
      <p:sp>
        <p:nvSpPr>
          <p:cNvPr id="37" name="Shape 35"/>
          <p:cNvSpPr/>
          <p:nvPr/>
        </p:nvSpPr>
        <p:spPr>
          <a:xfrm>
            <a:off x="2286000" y="1828800"/>
            <a:ext cx="7589520" cy="566928"/>
          </a:xfrm>
          <a:prstGeom prst="roundRect">
            <a:avLst>
              <a:gd name="adj" fmla="val 8065"/>
            </a:avLst>
          </a:prstGeom>
          <a:solidFill>
            <a:srgbClr val="12100C"/>
          </a:solidFill>
          <a:ln w="15240">
            <a:solidFill>
              <a:srgbClr val="D8A65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487168" y="19110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846320" y="191109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· text · a photograph of a leaf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080760" y="2414016"/>
            <a:ext cx="0" cy="182880"/>
          </a:xfrm>
          <a:prstGeom prst="line">
            <a:avLst/>
          </a:prstGeom>
          <a:noFill/>
          <a:ln w="17780">
            <a:solidFill>
              <a:srgbClr val="3A3226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286000" y="2615184"/>
            <a:ext cx="7589520" cy="566928"/>
          </a:xfrm>
          <a:prstGeom prst="roundRect">
            <a:avLst>
              <a:gd name="adj" fmla="val 8065"/>
            </a:avLst>
          </a:prstGeom>
          <a:solidFill>
            <a:srgbClr val="12100C"/>
          </a:solidFill>
          <a:ln w="15240">
            <a:solidFill>
              <a:srgbClr val="D8A65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487168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3.7 FLASH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846320" y="269748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· translate · route · explain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080760" y="3200400"/>
            <a:ext cx="0" cy="182880"/>
          </a:xfrm>
          <a:prstGeom prst="line">
            <a:avLst/>
          </a:prstGeom>
          <a:noFill/>
          <a:ln w="17780">
            <a:solidFill>
              <a:srgbClr val="3A3226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2286000" y="3401568"/>
            <a:ext cx="7589520" cy="566928"/>
          </a:xfrm>
          <a:prstGeom prst="roundRect">
            <a:avLst>
              <a:gd name="adj" fmla="val 8065"/>
            </a:avLst>
          </a:prstGeom>
          <a:solidFill>
            <a:srgbClr val="12100C"/>
          </a:solidFill>
          <a:ln w="15240">
            <a:solidFill>
              <a:srgbClr val="7CB86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87168" y="3483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ORCHESTRATOR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4846320" y="348386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tools · runs them concurrently · 16 key-and-model fallback pairs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080760" y="3986784"/>
            <a:ext cx="0" cy="182880"/>
          </a:xfrm>
          <a:prstGeom prst="line">
            <a:avLst/>
          </a:prstGeom>
          <a:noFill/>
          <a:ln w="17780">
            <a:solidFill>
              <a:srgbClr val="3A3226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286000" y="4187952"/>
            <a:ext cx="7589520" cy="658368"/>
          </a:xfrm>
          <a:prstGeom prst="roundRect">
            <a:avLst>
              <a:gd name="adj" fmla="val 6944"/>
            </a:avLst>
          </a:prstGeom>
          <a:solidFill>
            <a:srgbClr val="12100C"/>
          </a:solidFill>
          <a:ln w="15240">
            <a:solidFill>
              <a:srgbClr val="7CB86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487168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MODELS + LIVE DATA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4846320" y="4270248"/>
            <a:ext cx="4846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FAO-56 · FAO-33 · RothC · NDVI  ×  soil · weather · satellite · market · corpus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080760" y="4864608"/>
            <a:ext cx="0" cy="182880"/>
          </a:xfrm>
          <a:prstGeom prst="line">
            <a:avLst/>
          </a:prstGeom>
          <a:noFill/>
          <a:ln w="17780">
            <a:solidFill>
              <a:srgbClr val="3A3226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2286000" y="5065776"/>
            <a:ext cx="7589520" cy="566928"/>
          </a:xfrm>
          <a:prstGeom prst="roundRect">
            <a:avLst>
              <a:gd name="adj" fmla="val 8065"/>
            </a:avLst>
          </a:prstGeom>
          <a:solidFill>
            <a:srgbClr val="12100C"/>
          </a:solidFill>
          <a:ln w="15240">
            <a:solidFill>
              <a:srgbClr val="C2703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487168" y="5148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4846320" y="514807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answer, or an honest refusal — in the farmer's own script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66928" y="1828800"/>
            <a:ext cx="1572768" cy="3803904"/>
          </a:xfrm>
          <a:prstGeom prst="roundRect">
            <a:avLst>
              <a:gd name="adj" fmla="val 2907"/>
            </a:avLst>
          </a:prstGeom>
          <a:solidFill>
            <a:srgbClr val="12100C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86384" y="1993392"/>
            <a:ext cx="1133856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050" dirty="0"/>
          </a:p>
          <a:p>
            <a:pPr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050" dirty="0"/>
          </a:p>
          <a:p>
            <a:pPr indent="0" marL="0">
              <a:lnSpc>
                <a:spcPts val="145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serves the API and the app.</a:t>
            </a:r>
            <a:endParaRPr lang="en-US" sz="1050" dirty="0"/>
          </a:p>
          <a:p>
            <a:pPr indent="0" marL="0">
              <a:lnSpc>
                <a:spcPts val="145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laptop, a VPS or Cloud Run, unchanged.</a:t>
            </a:r>
            <a:endParaRPr lang="en-US" sz="1050" dirty="0"/>
          </a:p>
          <a:p>
            <a:pPr indent="0" marL="0">
              <a:lnSpc>
                <a:spcPts val="145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model training.</a:t>
            </a:r>
            <a:endParaRPr lang="en-US" sz="1050" dirty="0"/>
          </a:p>
          <a:p>
            <a:pPr indent="0" marL="0">
              <a:lnSpc>
                <a:spcPts val="145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throughout.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0058400" y="1828800"/>
            <a:ext cx="1563624" cy="3803904"/>
          </a:xfrm>
          <a:prstGeom prst="roundRect">
            <a:avLst>
              <a:gd name="adj" fmla="val 2924"/>
            </a:avLst>
          </a:prstGeom>
          <a:solidFill>
            <a:srgbClr val="12100C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277856" y="1993392"/>
            <a:ext cx="1124712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</a:t>
            </a:r>
            <a:endParaRPr lang="en-US" sz="1050" dirty="0"/>
          </a:p>
          <a:p>
            <a:pPr indent="0" marL="0">
              <a:lnSpc>
                <a:spcPts val="145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its source in the evidence ledger,</a:t>
            </a:r>
            <a:endParaRPr lang="en-US" sz="1050" dirty="0"/>
          </a:p>
          <a:p>
            <a:pPr indent="0" marL="0">
              <a:lnSpc>
                <a:spcPts val="145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may refuse rather than guess.</a:t>
            </a:r>
            <a:endParaRPr lang="en-US" sz="1050" dirty="0"/>
          </a:p>
          <a:p>
            <a:pPr indent="0" marL="0">
              <a:lnSpc>
                <a:spcPts val="1450"/>
              </a:lnSpc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diagram in the repository.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9706"/>
            <a:ext cx="135808" cy="135808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129050"/>
            <a:ext cx="103554" cy="10355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210976"/>
            <a:ext cx="116414" cy="11641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5" name="Shape 3"/>
          <p:cNvSpPr/>
          <p:nvPr/>
        </p:nvSpPr>
        <p:spPr>
          <a:xfrm>
            <a:off x="1975104" y="189715"/>
            <a:ext cx="111100" cy="11110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6" name="Shape 4"/>
          <p:cNvSpPr/>
          <p:nvPr/>
        </p:nvSpPr>
        <p:spPr>
          <a:xfrm>
            <a:off x="2231136" y="186978"/>
            <a:ext cx="127418" cy="12741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56516"/>
            <a:ext cx="128262" cy="12826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8" name="Shape 6"/>
          <p:cNvSpPr/>
          <p:nvPr/>
        </p:nvSpPr>
        <p:spPr>
          <a:xfrm>
            <a:off x="2999232" y="213106"/>
            <a:ext cx="106454" cy="10645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9" name="Shape 7"/>
          <p:cNvSpPr/>
          <p:nvPr/>
        </p:nvSpPr>
        <p:spPr>
          <a:xfrm>
            <a:off x="3511296" y="190221"/>
            <a:ext cx="111121" cy="11112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216866"/>
            <a:ext cx="119596" cy="119596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1" name="Shape 9"/>
          <p:cNvSpPr/>
          <p:nvPr/>
        </p:nvSpPr>
        <p:spPr>
          <a:xfrm>
            <a:off x="4535424" y="128434"/>
            <a:ext cx="165179" cy="16517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2" name="Shape 10"/>
          <p:cNvSpPr/>
          <p:nvPr/>
        </p:nvSpPr>
        <p:spPr>
          <a:xfrm>
            <a:off x="5047488" y="103266"/>
            <a:ext cx="157164" cy="157164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0" y="2256"/>
            <a:ext cx="135514" cy="13551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113169"/>
            <a:ext cx="109839" cy="109839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839712" y="45601"/>
            <a:ext cx="116013" cy="116013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6" name="Shape 14"/>
          <p:cNvSpPr/>
          <p:nvPr/>
        </p:nvSpPr>
        <p:spPr>
          <a:xfrm>
            <a:off x="7095744" y="133114"/>
            <a:ext cx="129647" cy="129647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7" name="Shape 15"/>
          <p:cNvSpPr/>
          <p:nvPr/>
        </p:nvSpPr>
        <p:spPr>
          <a:xfrm>
            <a:off x="7351776" y="131272"/>
            <a:ext cx="121625" cy="12162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8" name="Shape 16"/>
          <p:cNvSpPr/>
          <p:nvPr/>
        </p:nvSpPr>
        <p:spPr>
          <a:xfrm>
            <a:off x="7607808" y="184073"/>
            <a:ext cx="138365" cy="138365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9" name="Shape 17"/>
          <p:cNvSpPr/>
          <p:nvPr/>
        </p:nvSpPr>
        <p:spPr>
          <a:xfrm>
            <a:off x="8631936" y="130372"/>
            <a:ext cx="134500" cy="13450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130184"/>
            <a:ext cx="108716" cy="108716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1" name="Shape 19"/>
          <p:cNvSpPr/>
          <p:nvPr/>
        </p:nvSpPr>
        <p:spPr>
          <a:xfrm>
            <a:off x="9400032" y="164977"/>
            <a:ext cx="124502" cy="12450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2" name="Shape 20"/>
          <p:cNvSpPr/>
          <p:nvPr/>
        </p:nvSpPr>
        <p:spPr>
          <a:xfrm>
            <a:off x="9656064" y="26357"/>
            <a:ext cx="168800" cy="168800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24160" y="144424"/>
            <a:ext cx="161078" cy="16107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48288" y="182742"/>
            <a:ext cx="151555" cy="151555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Evidence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MEASURED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 we would want checked first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18653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FAO-56 Example 18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3858768" y="18653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ET₀ = 3.9 mm/day, every intermediate term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967728" y="186537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evapotranspiration is the published standard, not an approximation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2395728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25054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0.228 mm/day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3858768" y="25054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 station-days, five BRICS countries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967728" y="250545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 agrees with an independent implementation on live weather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" y="3035808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928" y="31455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&lt; 0.5 mm per season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3858768" y="31455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irrigated and rainfed, sand to clay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967728" y="314553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water accounting conserves mass; nothing is invented or lost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6928" y="3675888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6928" y="37856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29/35 retrieval at rank 1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3858768" y="3785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questions, four languages, 8 off-topic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967728" y="378561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corpus returns the right subject, and stays silent when it cannot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66928" y="4315968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66928" y="44256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real Punjab–Haryana fields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3858768" y="44256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on track · 9% behind · 9% severe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967728" y="442569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satellite thresholds are calibrated at population level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66928" y="4956048"/>
            <a:ext cx="11055096" cy="0"/>
          </a:xfrm>
          <a:prstGeom prst="line">
            <a:avLst/>
          </a:prstGeom>
          <a:noFill/>
          <a:ln w="6350">
            <a:solidFill>
              <a:srgbClr val="3A322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66928" y="50657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484 automated tests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3858768" y="50657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agronomy · 80 API · 73 retrieval · 19 federation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6967728" y="506577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behaviour is pinned, and runs offline without a key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566928" y="57607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command in the repository, not a claim in a slide.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13507"/>
            <a:ext cx="162916" cy="162916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5424"/>
            <a:ext cx="112628" cy="11262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218244"/>
            <a:ext cx="136434" cy="13643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5" name="Shape 3"/>
          <p:cNvSpPr/>
          <p:nvPr/>
        </p:nvSpPr>
        <p:spPr>
          <a:xfrm>
            <a:off x="2231136" y="189292"/>
            <a:ext cx="102268" cy="10226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6" name="Shape 4"/>
          <p:cNvSpPr/>
          <p:nvPr/>
        </p:nvSpPr>
        <p:spPr>
          <a:xfrm>
            <a:off x="2999232" y="126060"/>
            <a:ext cx="109215" cy="10921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7" name="Shape 5"/>
          <p:cNvSpPr/>
          <p:nvPr/>
        </p:nvSpPr>
        <p:spPr>
          <a:xfrm>
            <a:off x="3255264" y="139546"/>
            <a:ext cx="139841" cy="13984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8" name="Shape 6"/>
          <p:cNvSpPr/>
          <p:nvPr/>
        </p:nvSpPr>
        <p:spPr>
          <a:xfrm>
            <a:off x="3511296" y="218721"/>
            <a:ext cx="130276" cy="130276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9" name="Shape 7"/>
          <p:cNvSpPr/>
          <p:nvPr/>
        </p:nvSpPr>
        <p:spPr>
          <a:xfrm>
            <a:off x="3767328" y="96885"/>
            <a:ext cx="106063" cy="10606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49829"/>
            <a:ext cx="138600" cy="13860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1" name="Shape 9"/>
          <p:cNvSpPr/>
          <p:nvPr/>
        </p:nvSpPr>
        <p:spPr>
          <a:xfrm>
            <a:off x="4535424" y="182193"/>
            <a:ext cx="157945" cy="157945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2" name="Shape 10"/>
          <p:cNvSpPr/>
          <p:nvPr/>
        </p:nvSpPr>
        <p:spPr>
          <a:xfrm>
            <a:off x="4791456" y="155360"/>
            <a:ext cx="122450" cy="12245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3" name="Shape 11"/>
          <p:cNvSpPr/>
          <p:nvPr/>
        </p:nvSpPr>
        <p:spPr>
          <a:xfrm>
            <a:off x="5047488" y="52536"/>
            <a:ext cx="155577" cy="155577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4" name="Shape 12"/>
          <p:cNvSpPr/>
          <p:nvPr/>
        </p:nvSpPr>
        <p:spPr>
          <a:xfrm>
            <a:off x="5303520" y="93282"/>
            <a:ext cx="109205" cy="109205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071616" y="79195"/>
            <a:ext cx="124837" cy="12483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6" name="Shape 14"/>
          <p:cNvSpPr/>
          <p:nvPr/>
        </p:nvSpPr>
        <p:spPr>
          <a:xfrm>
            <a:off x="6327648" y="20239"/>
            <a:ext cx="150356" cy="150356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8497"/>
            <a:ext cx="158856" cy="158856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8" name="Shape 16"/>
          <p:cNvSpPr/>
          <p:nvPr/>
        </p:nvSpPr>
        <p:spPr>
          <a:xfrm>
            <a:off x="6839712" y="22948"/>
            <a:ext cx="103432" cy="10343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9" name="Shape 17"/>
          <p:cNvSpPr/>
          <p:nvPr/>
        </p:nvSpPr>
        <p:spPr>
          <a:xfrm>
            <a:off x="8119872" y="212444"/>
            <a:ext cx="143491" cy="143491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0" name="Shape 18"/>
          <p:cNvSpPr/>
          <p:nvPr/>
        </p:nvSpPr>
        <p:spPr>
          <a:xfrm>
            <a:off x="8375904" y="20489"/>
            <a:ext cx="104928" cy="10492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0" y="213929"/>
            <a:ext cx="151729" cy="151729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2" name="Shape 20"/>
          <p:cNvSpPr/>
          <p:nvPr/>
        </p:nvSpPr>
        <p:spPr>
          <a:xfrm>
            <a:off x="9656064" y="124879"/>
            <a:ext cx="148323" cy="14832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3" name="Shape 21"/>
          <p:cNvSpPr/>
          <p:nvPr/>
        </p:nvSpPr>
        <p:spPr>
          <a:xfrm>
            <a:off x="9912096" y="166212"/>
            <a:ext cx="112518" cy="11251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80192" y="138561"/>
            <a:ext cx="145624" cy="14562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04320" y="114028"/>
            <a:ext cx="151717" cy="15171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Grounding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FAILURE WE FOUND IN OUR OWN SYSTEM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was not enough</a:t>
            </a:r>
            <a:endParaRPr lang="en-US" sz="3400" dirty="0"/>
          </a:p>
        </p:txBody>
      </p:sp>
      <p:sp>
        <p:nvSpPr>
          <p:cNvPr id="32" name="Shape 30"/>
          <p:cNvSpPr/>
          <p:nvPr/>
        </p:nvSpPr>
        <p:spPr>
          <a:xfrm>
            <a:off x="566928" y="1865376"/>
            <a:ext cx="5394960" cy="2286000"/>
          </a:xfrm>
          <a:prstGeom prst="roundRect">
            <a:avLst>
              <a:gd name="adj" fmla="val 2000"/>
            </a:avLst>
          </a:prstGeom>
          <a:solidFill>
            <a:srgbClr val="2A1D12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6384" y="2029968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86384" y="2359152"/>
            <a:ext cx="49560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how to deworm a buffalo calf, Saathi retrieved genuine ICAR passages giving Albendazole at 10 mg/kg.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then added a dosing schedule — day 14, day 35, day 56 — and a second drug, neither of which appears in any passage, and told the farmer the government advisory said so.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had not removed the invention. It had lent it a citation.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81344" y="1865376"/>
            <a:ext cx="5440680" cy="2286000"/>
          </a:xfrm>
          <a:prstGeom prst="roundRect">
            <a:avLst>
              <a:gd name="adj" fmla="val 2000"/>
            </a:avLst>
          </a:prstGeom>
          <a:solidFill>
            <a:srgbClr val="241F18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0" y="20299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2359152"/>
            <a:ext cx="5001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rounds of prompt-writing did not stop it. An instruction competes with everything else the model is doing, on every token.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 figure in a sourced answer is now matched against the passages it came from. Unmatched figures raise a warning naming who to confirm with.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now refuses the question outright.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928" y="4261104"/>
            <a:ext cx="11055096" cy="969264"/>
          </a:xfrm>
          <a:prstGeom prst="roundRect">
            <a:avLst>
              <a:gd name="adj" fmla="val 4717"/>
            </a:avLst>
          </a:prstGeom>
          <a:solidFill>
            <a:srgbClr val="12100C"/>
          </a:solidFill>
          <a:ln w="12700">
            <a:solidFill>
              <a:srgbClr val="D8A65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6384" y="4425696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SLIDE THAT MATTERS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86384" y="4754880"/>
            <a:ext cx="10616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this system polices what goes into the model. This is the only stage that reads what came out. It is also the difference between a demo and something a ministry could stand behind: we found our own worst failure and engineered around it.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749808" y="5285232"/>
            <a:ext cx="25077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</a:t>
            </a:r>
            <a:endParaRPr lang="en-US" sz="2800" dirty="0"/>
          </a:p>
        </p:txBody>
      </p:sp>
      <p:sp>
        <p:nvSpPr>
          <p:cNvPr id="42" name="Text 40"/>
          <p:cNvSpPr txBox="1"/>
          <p:nvPr/>
        </p:nvSpPr>
        <p:spPr>
          <a:xfrm>
            <a:off x="749808" y="5742432"/>
            <a:ext cx="2507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floor — below it, nothing is quoted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330702" y="5340096"/>
            <a:ext cx="0" cy="786384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513582" y="5285232"/>
            <a:ext cx="25077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2800" dirty="0"/>
          </a:p>
        </p:txBody>
      </p:sp>
      <p:sp>
        <p:nvSpPr>
          <p:cNvPr id="45" name="Text 43"/>
          <p:cNvSpPr txBox="1"/>
          <p:nvPr/>
        </p:nvSpPr>
        <p:spPr>
          <a:xfrm>
            <a:off x="3513582" y="5742432"/>
            <a:ext cx="2507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questions correctly refused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094476" y="5340096"/>
            <a:ext cx="0" cy="786384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77356" y="5285232"/>
            <a:ext cx="25077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800" dirty="0"/>
          </a:p>
        </p:txBody>
      </p:sp>
      <p:sp>
        <p:nvSpPr>
          <p:cNvPr id="48" name="Text 46"/>
          <p:cNvSpPr txBox="1"/>
          <p:nvPr/>
        </p:nvSpPr>
        <p:spPr>
          <a:xfrm>
            <a:off x="6277356" y="5742432"/>
            <a:ext cx="2507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pesticides named, from the CIBRC list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858250" y="5340096"/>
            <a:ext cx="0" cy="786384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041130" y="5285232"/>
            <a:ext cx="25077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2800" dirty="0"/>
          </a:p>
        </p:txBody>
      </p:sp>
      <p:sp>
        <p:nvSpPr>
          <p:cNvPr id="51" name="Text 49"/>
          <p:cNvSpPr txBox="1"/>
          <p:nvPr/>
        </p:nvSpPr>
        <p:spPr>
          <a:xfrm>
            <a:off x="9041130" y="5742432"/>
            <a:ext cx="2507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variety codes found in the passage returned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44271"/>
            <a:ext cx="117232" cy="117232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149641"/>
            <a:ext cx="112354" cy="11235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22146"/>
            <a:ext cx="169075" cy="169075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5" name="Shape 3"/>
          <p:cNvSpPr/>
          <p:nvPr/>
        </p:nvSpPr>
        <p:spPr>
          <a:xfrm>
            <a:off x="1207008" y="53876"/>
            <a:ext cx="166860" cy="16686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67405"/>
            <a:ext cx="107925" cy="107925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7" name="Shape 5"/>
          <p:cNvSpPr/>
          <p:nvPr/>
        </p:nvSpPr>
        <p:spPr>
          <a:xfrm>
            <a:off x="1719072" y="20482"/>
            <a:ext cx="136236" cy="136236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8" name="Shape 6"/>
          <p:cNvSpPr/>
          <p:nvPr/>
        </p:nvSpPr>
        <p:spPr>
          <a:xfrm>
            <a:off x="1975104" y="166650"/>
            <a:ext cx="158523" cy="158523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9" name="Shape 7"/>
          <p:cNvSpPr/>
          <p:nvPr/>
        </p:nvSpPr>
        <p:spPr>
          <a:xfrm>
            <a:off x="2231136" y="197476"/>
            <a:ext cx="102390" cy="10239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0" name="Shape 8"/>
          <p:cNvSpPr/>
          <p:nvPr/>
        </p:nvSpPr>
        <p:spPr>
          <a:xfrm>
            <a:off x="2487168" y="170001"/>
            <a:ext cx="130329" cy="130329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1" name="Shape 9"/>
          <p:cNvSpPr/>
          <p:nvPr/>
        </p:nvSpPr>
        <p:spPr>
          <a:xfrm>
            <a:off x="3511296" y="4794"/>
            <a:ext cx="133024" cy="133024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2" name="Shape 10"/>
          <p:cNvSpPr/>
          <p:nvPr/>
        </p:nvSpPr>
        <p:spPr>
          <a:xfrm>
            <a:off x="4023360" y="85130"/>
            <a:ext cx="158082" cy="15808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3" name="Shape 11"/>
          <p:cNvSpPr/>
          <p:nvPr/>
        </p:nvSpPr>
        <p:spPr>
          <a:xfrm>
            <a:off x="4279392" y="209242"/>
            <a:ext cx="103386" cy="10338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4" name="Shape 12"/>
          <p:cNvSpPr/>
          <p:nvPr/>
        </p:nvSpPr>
        <p:spPr>
          <a:xfrm>
            <a:off x="5047488" y="122536"/>
            <a:ext cx="135784" cy="13578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5" name="Shape 13"/>
          <p:cNvSpPr/>
          <p:nvPr/>
        </p:nvSpPr>
        <p:spPr>
          <a:xfrm>
            <a:off x="5559552" y="175100"/>
            <a:ext cx="116112" cy="11611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6" name="Shape 14"/>
          <p:cNvSpPr/>
          <p:nvPr/>
        </p:nvSpPr>
        <p:spPr>
          <a:xfrm>
            <a:off x="6071616" y="160637"/>
            <a:ext cx="114045" cy="114045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154806"/>
            <a:ext cx="152890" cy="15289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8" name="Shape 16"/>
          <p:cNvSpPr/>
          <p:nvPr/>
        </p:nvSpPr>
        <p:spPr>
          <a:xfrm>
            <a:off x="7351776" y="116951"/>
            <a:ext cx="157861" cy="157861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9" name="Shape 17"/>
          <p:cNvSpPr/>
          <p:nvPr/>
        </p:nvSpPr>
        <p:spPr>
          <a:xfrm>
            <a:off x="7607808" y="201808"/>
            <a:ext cx="152069" cy="152069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19872" y="40097"/>
            <a:ext cx="118109" cy="118109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1" name="Shape 19"/>
          <p:cNvSpPr/>
          <p:nvPr/>
        </p:nvSpPr>
        <p:spPr>
          <a:xfrm>
            <a:off x="8375904" y="30558"/>
            <a:ext cx="167342" cy="16734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176599"/>
            <a:ext cx="151451" cy="15145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3" name="Shape 21"/>
          <p:cNvSpPr/>
          <p:nvPr/>
        </p:nvSpPr>
        <p:spPr>
          <a:xfrm>
            <a:off x="8887968" y="12684"/>
            <a:ext cx="137659" cy="137659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4" name="Shape 22"/>
          <p:cNvSpPr/>
          <p:nvPr/>
        </p:nvSpPr>
        <p:spPr>
          <a:xfrm>
            <a:off x="9400032" y="95746"/>
            <a:ext cx="158680" cy="15868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68128" y="68208"/>
            <a:ext cx="125646" cy="12564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24160" y="209007"/>
            <a:ext cx="170637" cy="17063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80192" y="92910"/>
            <a:ext cx="121604" cy="12160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92256" y="16138"/>
            <a:ext cx="133375" cy="133375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48288" y="79307"/>
            <a:ext cx="150342" cy="150342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Accessibility and safety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FOR PEOPLE WHO MAY NOT READ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honest when it cannot help</a:t>
            </a:r>
            <a:endParaRPr lang="en-US" sz="3400" dirty="0"/>
          </a:p>
        </p:txBody>
      </p:sp>
      <p:sp>
        <p:nvSpPr>
          <p:cNvPr id="36" name="Shape 34"/>
          <p:cNvSpPr/>
          <p:nvPr/>
        </p:nvSpPr>
        <p:spPr>
          <a:xfrm>
            <a:off x="566928" y="1865376"/>
            <a:ext cx="5394960" cy="2212848"/>
          </a:xfrm>
          <a:prstGeom prst="roundRect">
            <a:avLst>
              <a:gd name="adj" fmla="val 2066"/>
            </a:avLst>
          </a:prstGeom>
          <a:solidFill>
            <a:srgbClr val="241F18"/>
          </a:solidFill>
          <a:ln w="12700">
            <a:solidFill>
              <a:srgbClr val="D8A65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6384" y="2029968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A NON-READING USER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86384" y="2359152"/>
            <a:ext cx="495604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 and out in 24 languages, synthesised server-side.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 each language — Saathi, ਸਾਥੀ, 农友, Parceiro, Umngane.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Pictogram grammar: state → duration → action → quantity.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units first; prices always carry “per quintal”.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first; the numbers sit underneath.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81344" y="1865376"/>
            <a:ext cx="5440680" cy="2212848"/>
          </a:xfrm>
          <a:prstGeom prst="roundRect">
            <a:avLst>
              <a:gd name="adj" fmla="val 2066"/>
            </a:avLst>
          </a:prstGeom>
          <a:solidFill>
            <a:srgbClr val="2A1D12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0" y="20299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REFUSES, AT EVERY LAYER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0" y="2359152"/>
            <a:ext cx="500176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— silence never becomes words.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— a masked cell is “no data”, not a nearby guess.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— an unusable photograph is declined.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— today's rate and the MSP floor, never a forecast.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 — high-risk figures are never generated from model memory.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66928" y="4242816"/>
            <a:ext cx="11055096" cy="1005840"/>
          </a:xfrm>
          <a:prstGeom prst="roundRect">
            <a:avLst>
              <a:gd name="adj" fmla="val 4545"/>
            </a:avLst>
          </a:prstGeom>
          <a:solidFill>
            <a:srgbClr val="12100C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6384" y="4407408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NUMBER MAY COME FROM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86384" y="4736592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model, a live measurement, or a passage quoted with its link. Never the model's memory. A pesticide named on the CIBRC banned list is called out as banned — and monocrotophos, which is restricted rather than banned, is described exactly that way.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298448" y="5413248"/>
            <a:ext cx="9592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farmer told ‘the soil map is uncertain here — a KVK soil test would be firmer’ has been served well. One given a confident wrong number has been harmed.”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126860"/>
            <a:ext cx="136808" cy="136808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88006"/>
            <a:ext cx="149003" cy="14900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4" name="Shape 2"/>
          <p:cNvSpPr/>
          <p:nvPr/>
        </p:nvSpPr>
        <p:spPr>
          <a:xfrm>
            <a:off x="1207008" y="200756"/>
            <a:ext cx="128402" cy="12840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92255"/>
            <a:ext cx="101866" cy="101866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6" name="Shape 4"/>
          <p:cNvSpPr/>
          <p:nvPr/>
        </p:nvSpPr>
        <p:spPr>
          <a:xfrm>
            <a:off x="1975104" y="115859"/>
            <a:ext cx="109611" cy="109611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7" name="Shape 5"/>
          <p:cNvSpPr/>
          <p:nvPr/>
        </p:nvSpPr>
        <p:spPr>
          <a:xfrm>
            <a:off x="2231136" y="106197"/>
            <a:ext cx="145347" cy="14534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8" name="Shape 6"/>
          <p:cNvSpPr/>
          <p:nvPr/>
        </p:nvSpPr>
        <p:spPr>
          <a:xfrm>
            <a:off x="3255264" y="26691"/>
            <a:ext cx="130523" cy="13052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9" name="Shape 7"/>
          <p:cNvSpPr/>
          <p:nvPr/>
        </p:nvSpPr>
        <p:spPr>
          <a:xfrm>
            <a:off x="3511296" y="191386"/>
            <a:ext cx="113646" cy="113646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10981"/>
            <a:ext cx="159869" cy="159869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1" name="Shape 9"/>
          <p:cNvSpPr/>
          <p:nvPr/>
        </p:nvSpPr>
        <p:spPr>
          <a:xfrm>
            <a:off x="5047488" y="76830"/>
            <a:ext cx="100823" cy="10082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2" name="Shape 10"/>
          <p:cNvSpPr/>
          <p:nvPr/>
        </p:nvSpPr>
        <p:spPr>
          <a:xfrm>
            <a:off x="5559552" y="95276"/>
            <a:ext cx="130975" cy="130975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3" name="Shape 11"/>
          <p:cNvSpPr/>
          <p:nvPr/>
        </p:nvSpPr>
        <p:spPr>
          <a:xfrm>
            <a:off x="8119872" y="79124"/>
            <a:ext cx="104242" cy="104242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4" name="Shape 12"/>
          <p:cNvSpPr/>
          <p:nvPr/>
        </p:nvSpPr>
        <p:spPr>
          <a:xfrm>
            <a:off x="8887968" y="21126"/>
            <a:ext cx="126283" cy="126283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24160" y="8720"/>
            <a:ext cx="147317" cy="147317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2256" y="179408"/>
            <a:ext cx="116303" cy="11630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48288" y="192281"/>
            <a:ext cx="119793" cy="119793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8" name="Shape 16"/>
          <p:cNvSpPr/>
          <p:nvPr/>
        </p:nvSpPr>
        <p:spPr>
          <a:xfrm>
            <a:off x="11704320" y="19390"/>
            <a:ext cx="103123" cy="10312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Cooperation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BRICS COOPERATION, MEASURED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a model without sharing a farm record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566928" y="1865376"/>
            <a:ext cx="5394960" cy="1975104"/>
          </a:xfrm>
          <a:prstGeom prst="roundRect">
            <a:avLst>
              <a:gd name="adj" fmla="val 2315"/>
            </a:avLst>
          </a:prstGeom>
          <a:solidFill>
            <a:srgbClr val="241F18"/>
          </a:solidFill>
          <a:ln w="12700">
            <a:solidFill>
              <a:srgbClr val="D8A6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" y="2029968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SOVEREIGNTY, NOT MODELLING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" y="2359152"/>
            <a:ext cx="49560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agricultural cooperation founders on who holds the data. So rather than assert that federated learning solves it, we measured it: five country nodes, each a container holding data it will not release.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181344" y="1865376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millimetres of seasonal irrigation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181344" y="22311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model on its own fields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0076688" y="22311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mm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181344" y="2633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model on another country's fields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0076688" y="2633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 mm  ← the problem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181344" y="30358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federated model, anywhere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0076688" y="30358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mm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181344" y="34381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Federated, then fine-tuned locally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076688" y="3438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mm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4005072"/>
            <a:ext cx="11055096" cy="1042416"/>
          </a:xfrm>
          <a:prstGeom prst="roundRect">
            <a:avLst>
              <a:gd name="adj" fmla="val 4386"/>
            </a:avLst>
          </a:prstGeom>
          <a:solidFill>
            <a:srgbClr val="12100C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6384" y="4169664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ARGUMENT SCALES INSIDE INDIA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86384" y="4498848"/>
            <a:ext cx="10616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holds between five countries holds between five states, or five FPOs. A cooperative can contribute to a shared irrigation model without handing over its members' field records — which is the condition most Indian data-sharing agreements actually need to meet.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749808" y="5193792"/>
            <a:ext cx="25077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41" name="Text 39"/>
          <p:cNvSpPr txBox="1"/>
          <p:nvPr/>
        </p:nvSpPr>
        <p:spPr>
          <a:xfrm>
            <a:off x="749808" y="5650992"/>
            <a:ext cx="2507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records ever transmitted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330702" y="5248656"/>
            <a:ext cx="0" cy="786384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513582" y="5193792"/>
            <a:ext cx="25077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</a:t>
            </a:r>
            <a:endParaRPr lang="en-US" sz="2800" dirty="0"/>
          </a:p>
        </p:txBody>
      </p:sp>
      <p:sp>
        <p:nvSpPr>
          <p:cNvPr id="44" name="Text 42"/>
          <p:cNvSpPr txBox="1"/>
          <p:nvPr/>
        </p:nvSpPr>
        <p:spPr>
          <a:xfrm>
            <a:off x="3513582" y="5650992"/>
            <a:ext cx="2507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parameters per node, per round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094476" y="5248656"/>
            <a:ext cx="0" cy="786384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77356" y="5193792"/>
            <a:ext cx="25077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800" dirty="0"/>
          </a:p>
        </p:txBody>
      </p:sp>
      <p:sp>
        <p:nvSpPr>
          <p:cNvPr id="47" name="Text 45"/>
          <p:cNvSpPr txBox="1"/>
          <p:nvPr/>
        </p:nvSpPr>
        <p:spPr>
          <a:xfrm>
            <a:off x="6277356" y="5650992"/>
            <a:ext cx="2507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asserting the sovereignty claim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858250" y="5248656"/>
            <a:ext cx="0" cy="786384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041130" y="5193792"/>
            <a:ext cx="250774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CB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50" name="Text 48"/>
          <p:cNvSpPr txBox="1"/>
          <p:nvPr/>
        </p:nvSpPr>
        <p:spPr>
          <a:xfrm>
            <a:off x="9041130" y="5650992"/>
            <a:ext cx="25077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nodes, running as containers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15996"/>
            <a:ext cx="171088" cy="17108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215775"/>
            <a:ext cx="138727" cy="13872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162559"/>
            <a:ext cx="147968" cy="14796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5" name="Shape 3"/>
          <p:cNvSpPr/>
          <p:nvPr/>
        </p:nvSpPr>
        <p:spPr>
          <a:xfrm>
            <a:off x="1975104" y="163878"/>
            <a:ext cx="123603" cy="123603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6" name="Shape 4"/>
          <p:cNvSpPr/>
          <p:nvPr/>
        </p:nvSpPr>
        <p:spPr>
          <a:xfrm>
            <a:off x="2231136" y="41374"/>
            <a:ext cx="137541" cy="137541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7" name="Shape 5"/>
          <p:cNvSpPr/>
          <p:nvPr/>
        </p:nvSpPr>
        <p:spPr>
          <a:xfrm>
            <a:off x="2487168" y="57957"/>
            <a:ext cx="167338" cy="167338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94180"/>
            <a:ext cx="154049" cy="154049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9" name="Shape 7"/>
          <p:cNvSpPr/>
          <p:nvPr/>
        </p:nvSpPr>
        <p:spPr>
          <a:xfrm>
            <a:off x="2999232" y="23099"/>
            <a:ext cx="157230" cy="157230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0" name="Shape 8"/>
          <p:cNvSpPr/>
          <p:nvPr/>
        </p:nvSpPr>
        <p:spPr>
          <a:xfrm>
            <a:off x="3255264" y="124879"/>
            <a:ext cx="132420" cy="13242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1" name="Shape 9"/>
          <p:cNvSpPr/>
          <p:nvPr/>
        </p:nvSpPr>
        <p:spPr>
          <a:xfrm>
            <a:off x="4791456" y="75750"/>
            <a:ext cx="113989" cy="113989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2" name="Shape 10"/>
          <p:cNvSpPr/>
          <p:nvPr/>
        </p:nvSpPr>
        <p:spPr>
          <a:xfrm>
            <a:off x="5303520" y="33135"/>
            <a:ext cx="109036" cy="109036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559552" y="108814"/>
            <a:ext cx="155739" cy="155739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14" name="Shape 12"/>
          <p:cNvSpPr/>
          <p:nvPr/>
        </p:nvSpPr>
        <p:spPr>
          <a:xfrm>
            <a:off x="5815584" y="82385"/>
            <a:ext cx="144674" cy="144674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5" name="Shape 13"/>
          <p:cNvSpPr/>
          <p:nvPr/>
        </p:nvSpPr>
        <p:spPr>
          <a:xfrm>
            <a:off x="6071616" y="36778"/>
            <a:ext cx="157122" cy="157122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6" name="Shape 14"/>
          <p:cNvSpPr/>
          <p:nvPr/>
        </p:nvSpPr>
        <p:spPr>
          <a:xfrm>
            <a:off x="6327648" y="45504"/>
            <a:ext cx="171913" cy="17191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7" name="Shape 15"/>
          <p:cNvSpPr/>
          <p:nvPr/>
        </p:nvSpPr>
        <p:spPr>
          <a:xfrm>
            <a:off x="8119872" y="211917"/>
            <a:ext cx="170530" cy="17053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8" name="Shape 16"/>
          <p:cNvSpPr/>
          <p:nvPr/>
        </p:nvSpPr>
        <p:spPr>
          <a:xfrm>
            <a:off x="8631936" y="53970"/>
            <a:ext cx="100887" cy="100887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9" name="Shape 17"/>
          <p:cNvSpPr/>
          <p:nvPr/>
        </p:nvSpPr>
        <p:spPr>
          <a:xfrm>
            <a:off x="9656064" y="154831"/>
            <a:ext cx="109142" cy="10914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0" name="Shape 18"/>
          <p:cNvSpPr/>
          <p:nvPr/>
        </p:nvSpPr>
        <p:spPr>
          <a:xfrm>
            <a:off x="9912096" y="152104"/>
            <a:ext cx="117302" cy="117302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92256" y="49737"/>
            <a:ext cx="111280" cy="11128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Reach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ONE FIELD TO INDIA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scales is the tools, not the model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566928" y="1865376"/>
            <a:ext cx="3529584" cy="2377440"/>
          </a:xfrm>
          <a:prstGeom prst="roundRect">
            <a:avLst>
              <a:gd name="adj" fmla="val 1923"/>
            </a:avLst>
          </a:prstGeom>
          <a:solidFill>
            <a:srgbClr val="241F18"/>
          </a:solidFill>
          <a:ln w="12700">
            <a:solidFill>
              <a:srgbClr val="D8A6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6384" y="2029968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PILOT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" y="2359152"/>
            <a:ext cx="3090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and rice, the crops already calibrated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district's KVKs as the distribution channel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Punjabi, Hindi, English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does the advice get acted on?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86384" y="221284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Punjab &amp; Haryana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297680" y="1865376"/>
            <a:ext cx="3529584" cy="2377440"/>
          </a:xfrm>
          <a:prstGeom prst="roundRect">
            <a:avLst>
              <a:gd name="adj" fmla="val 1923"/>
            </a:avLst>
          </a:prstGeom>
          <a:solidFill>
            <a:srgbClr val="241F18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17136" y="2029968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ZONES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17136" y="2359152"/>
            <a:ext cx="3090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crops of each zone as tool modules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corpus in each zone's language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agriculture departments and FPOs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does accuracy hold outside Punjab?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517136" y="221284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agro-climatic zones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028432" y="1865376"/>
            <a:ext cx="3593592" cy="2377440"/>
          </a:xfrm>
          <a:prstGeom prst="roundRect">
            <a:avLst>
              <a:gd name="adj" fmla="val 1923"/>
            </a:avLst>
          </a:prstGeom>
          <a:solidFill>
            <a:srgbClr val="241F18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47888" y="202996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NATIONAL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247888" y="2359152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languages already built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and agronomy modules added independently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KVKs · FPOs · state departments · CSCs</a:t>
            </a:r>
            <a:endParaRPr lang="en-US" sz="1150" dirty="0"/>
          </a:p>
          <a:p>
            <a:pPr marL="342900" indent="-342900">
              <a:lnSpc>
                <a:spcPts val="155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lets states pool models, not records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247888" y="22128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66928" y="4407408"/>
            <a:ext cx="11055096" cy="1133856"/>
          </a:xfrm>
          <a:prstGeom prst="roundRect">
            <a:avLst>
              <a:gd name="adj" fmla="val 4032"/>
            </a:avLst>
          </a:prstGeom>
          <a:solidFill>
            <a:srgbClr val="12100C"/>
          </a:solidFill>
          <a:ln w="12700">
            <a:solidFill>
              <a:srgbClr val="D8A65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6384" y="4572000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CHEAP TO EXTEND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86384" y="4901184"/>
            <a:ext cx="10616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state does not need a new model. It needs its crops calibrated and its language switched on — and the language is already there. Adding a crop is a coefficient table; adding a district is a coordinate. The soil map, the satellite pipeline and the advisory corpus are national from day one.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566928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phases above are a plan, not traction. Saathi has no farmers yet — the engine is built and tested; the pilot is what we are asking for.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49797"/>
            <a:ext cx="125044" cy="12504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159710"/>
            <a:ext cx="172434" cy="17243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" y="171080"/>
            <a:ext cx="164907" cy="164907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95300"/>
            <a:ext cx="145713" cy="14571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6" name="Shape 4"/>
          <p:cNvSpPr/>
          <p:nvPr/>
        </p:nvSpPr>
        <p:spPr>
          <a:xfrm>
            <a:off x="1207008" y="49534"/>
            <a:ext cx="157344" cy="157344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77717"/>
            <a:ext cx="162425" cy="16242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8" name="Shape 6"/>
          <p:cNvSpPr/>
          <p:nvPr/>
        </p:nvSpPr>
        <p:spPr>
          <a:xfrm>
            <a:off x="1719072" y="87323"/>
            <a:ext cx="140087" cy="140087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9" name="Shape 7"/>
          <p:cNvSpPr/>
          <p:nvPr/>
        </p:nvSpPr>
        <p:spPr>
          <a:xfrm>
            <a:off x="2231136" y="75692"/>
            <a:ext cx="149590" cy="149590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0" name="Shape 8"/>
          <p:cNvSpPr/>
          <p:nvPr/>
        </p:nvSpPr>
        <p:spPr>
          <a:xfrm>
            <a:off x="2487168" y="93011"/>
            <a:ext cx="108820" cy="10882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212673"/>
            <a:ext cx="169238" cy="169238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2" name="Shape 10"/>
          <p:cNvSpPr/>
          <p:nvPr/>
        </p:nvSpPr>
        <p:spPr>
          <a:xfrm>
            <a:off x="2999232" y="104669"/>
            <a:ext cx="142231" cy="14223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3" name="Shape 11"/>
          <p:cNvSpPr/>
          <p:nvPr/>
        </p:nvSpPr>
        <p:spPr>
          <a:xfrm>
            <a:off x="3511296" y="211084"/>
            <a:ext cx="144510" cy="144510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3360" y="218360"/>
            <a:ext cx="116354" cy="116354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15" name="Shape 13"/>
          <p:cNvSpPr/>
          <p:nvPr/>
        </p:nvSpPr>
        <p:spPr>
          <a:xfrm>
            <a:off x="5047488" y="204557"/>
            <a:ext cx="128491" cy="128491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6" name="Shape 14"/>
          <p:cNvSpPr/>
          <p:nvPr/>
        </p:nvSpPr>
        <p:spPr>
          <a:xfrm>
            <a:off x="6327648" y="40417"/>
            <a:ext cx="137368" cy="137368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7" name="Shape 15"/>
          <p:cNvSpPr/>
          <p:nvPr/>
        </p:nvSpPr>
        <p:spPr>
          <a:xfrm>
            <a:off x="7095744" y="94334"/>
            <a:ext cx="154958" cy="154958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18" name="Shape 16"/>
          <p:cNvSpPr/>
          <p:nvPr/>
        </p:nvSpPr>
        <p:spPr>
          <a:xfrm>
            <a:off x="7607808" y="213139"/>
            <a:ext cx="149763" cy="149763"/>
          </a:xfrm>
          <a:prstGeom prst="rect">
            <a:avLst/>
          </a:prstGeom>
          <a:solidFill>
            <a:srgbClr val="B3A288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210425"/>
            <a:ext cx="118879" cy="118879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0" name="Shape 18"/>
          <p:cNvSpPr/>
          <p:nvPr/>
        </p:nvSpPr>
        <p:spPr>
          <a:xfrm>
            <a:off x="8119872" y="73646"/>
            <a:ext cx="108355" cy="108355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1" name="Shape 19"/>
          <p:cNvSpPr/>
          <p:nvPr/>
        </p:nvSpPr>
        <p:spPr>
          <a:xfrm>
            <a:off x="8375904" y="96092"/>
            <a:ext cx="137785" cy="137785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214321"/>
            <a:ext cx="140400" cy="140400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182922"/>
            <a:ext cx="173543" cy="173543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4" name="Shape 22"/>
          <p:cNvSpPr/>
          <p:nvPr/>
        </p:nvSpPr>
        <p:spPr>
          <a:xfrm>
            <a:off x="9656064" y="31612"/>
            <a:ext cx="107963" cy="107963"/>
          </a:xfrm>
          <a:prstGeom prst="rect">
            <a:avLst/>
          </a:prstGeom>
          <a:solidFill>
            <a:srgbClr val="F2ECE1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24160" y="173657"/>
            <a:ext cx="104128" cy="104128"/>
          </a:xfrm>
          <a:prstGeom prst="rect">
            <a:avLst/>
          </a:prstGeom>
          <a:solidFill>
            <a:srgbClr val="D8A657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36224" y="173384"/>
            <a:ext cx="133250" cy="133250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48288" y="186860"/>
            <a:ext cx="101438" cy="101438"/>
          </a:xfrm>
          <a:prstGeom prst="rect">
            <a:avLst/>
          </a:prstGeom>
          <a:solidFill>
            <a:srgbClr val="7CB86A"/>
          </a:solidFill>
          <a:ln/>
        </p:spPr>
      </p:sp>
      <p:sp>
        <p:nvSpPr>
          <p:cNvPr id="28" name="Shape 26"/>
          <p:cNvSpPr/>
          <p:nvPr/>
        </p:nvSpPr>
        <p:spPr>
          <a:xfrm>
            <a:off x="11704320" y="126365"/>
            <a:ext cx="139363" cy="139363"/>
          </a:xfrm>
          <a:prstGeom prst="rect">
            <a:avLst/>
          </a:prstGeom>
          <a:solidFill>
            <a:srgbClr val="3A322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6692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✳  SAATHI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050024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Deployment and impact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6199632"/>
            <a:ext cx="11055096" cy="0"/>
          </a:xfrm>
          <a:prstGeom prst="line">
            <a:avLst/>
          </a:prstGeom>
          <a:noFill/>
          <a:ln w="9525">
            <a:solidFill>
              <a:srgbClr val="3A322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github.com/japi3/agrin  ↗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PILOT-READY BY DESIGN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1133856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EC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would take, and what would change</a:t>
            </a:r>
            <a:endParaRPr lang="en-US" sz="3400" dirty="0"/>
          </a:p>
        </p:txBody>
      </p:sp>
      <p:sp>
        <p:nvSpPr>
          <p:cNvPr id="35" name="Shape 33"/>
          <p:cNvSpPr/>
          <p:nvPr/>
        </p:nvSpPr>
        <p:spPr>
          <a:xfrm>
            <a:off x="566928" y="1865376"/>
            <a:ext cx="5394960" cy="2487168"/>
          </a:xfrm>
          <a:prstGeom prst="roundRect">
            <a:avLst>
              <a:gd name="adj" fmla="val 1838"/>
            </a:avLst>
          </a:prstGeom>
          <a:solidFill>
            <a:srgbClr val="241F18"/>
          </a:solidFill>
          <a:ln w="12700">
            <a:solidFill>
              <a:srgbClr val="D8A65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86384" y="2029968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D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PILOT, IN FOUR WEEKS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" y="2359152"/>
            <a:ext cx="495604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deploy the container; no new infrastructure.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onboard a KVK or department; set the districts.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switch on the zone's languages and crop modules.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farmers onboard; monitor answers and refusals.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81344" y="1865376"/>
            <a:ext cx="5440680" cy="2487168"/>
          </a:xfrm>
          <a:prstGeom prst="roundRect">
            <a:avLst>
              <a:gd name="adj" fmla="val 1838"/>
            </a:avLst>
          </a:prstGeom>
          <a:solidFill>
            <a:srgbClr val="241F18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202996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NEED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2359152"/>
            <a:ext cx="5001768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model training — Gemini plus validated tools.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satellite or sensor infrastructure.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per-state data agreement — sources are open-licensed.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budget: every service runs on a free tier.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66928" y="4517136"/>
            <a:ext cx="5394960" cy="1371600"/>
          </a:xfrm>
          <a:prstGeom prst="roundRect">
            <a:avLst>
              <a:gd name="adj" fmla="val 3333"/>
            </a:avLst>
          </a:prstGeom>
          <a:solidFill>
            <a:srgbClr val="12100C"/>
          </a:solidFill>
          <a:ln w="12700">
            <a:solidFill>
              <a:srgbClr val="7CB86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6384" y="4681728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7C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ALREADY SHOW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86384" y="5010912"/>
            <a:ext cx="4956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tied to this field's measured water balance rather than a calendar. Soil for any coordinate in India in ~6 ms. Advice quoted from government sources with the link. A refusal when the evidence is thin.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181344" y="4517136"/>
            <a:ext cx="5440680" cy="1371600"/>
          </a:xfrm>
          <a:prstGeom prst="roundRect">
            <a:avLst>
              <a:gd name="adj" fmla="val 3333"/>
            </a:avLst>
          </a:prstGeom>
          <a:solidFill>
            <a:srgbClr val="2A1D12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0" y="4681728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C2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PILOT WOULD HAVE TO MEASURE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0" y="5010912"/>
            <a:ext cx="5001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B3A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saved against a district's usual practice. Whether advice is acted on. Yield and margin against a control group. None of these are claimed here, because none of them have been measured — and a number we invented would undo the point of the whole system.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Saathi — AgriN</dc:title>
  <dc:subject>PptxGenJS Presentation</dc:subject>
  <dc:creator>Harnoor Singh, Japleen Kaur</dc:creator>
  <cp:lastModifiedBy>Harnoor Singh, Japleen Kaur</cp:lastModifiedBy>
  <cp:revision>1</cp:revision>
  <dcterms:created xsi:type="dcterms:W3CDTF">2026-09-29T17:20:54Z</dcterms:created>
  <dcterms:modified xsi:type="dcterms:W3CDTF">2026-09-29T17:20:54Z</dcterms:modified>
</cp:coreProperties>
</file>