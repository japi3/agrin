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in the band is the thesis of the whole project. Everything else on this slide is how it is enforced.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band is the strongest evidence in the deck: we found our own worst failure and engineered a guard around it, rather than trusting a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quote. The argument of the whole deck is that refusing well is a feature, not a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7217"/>
            <a:ext cx="127636" cy="12763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32140"/>
            <a:ext cx="101723" cy="1017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719072" y="54256"/>
            <a:ext cx="156114" cy="15611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07686"/>
            <a:ext cx="103995" cy="10399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74496"/>
            <a:ext cx="173140" cy="17314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70967"/>
            <a:ext cx="123137" cy="12313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73644"/>
            <a:ext cx="159132" cy="15913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130708"/>
            <a:ext cx="124318" cy="12431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0" name="Shape 8"/>
          <p:cNvSpPr/>
          <p:nvPr/>
        </p:nvSpPr>
        <p:spPr>
          <a:xfrm>
            <a:off x="3255264" y="40492"/>
            <a:ext cx="106252" cy="10625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182299"/>
            <a:ext cx="159182" cy="15918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3767328" y="218063"/>
            <a:ext cx="130326" cy="13032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167297"/>
            <a:ext cx="135320" cy="13532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91456" y="21709"/>
            <a:ext cx="117298" cy="11729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89067"/>
            <a:ext cx="117494" cy="11749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39551"/>
            <a:ext cx="108230" cy="10823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15584" y="198671"/>
            <a:ext cx="156528" cy="15652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71616" y="38538"/>
            <a:ext cx="152001" cy="15200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157901"/>
            <a:ext cx="152119" cy="15211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9712" y="110315"/>
            <a:ext cx="145198" cy="14519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1" name="Shape 19"/>
          <p:cNvSpPr/>
          <p:nvPr/>
        </p:nvSpPr>
        <p:spPr>
          <a:xfrm>
            <a:off x="7095744" y="205227"/>
            <a:ext cx="109011" cy="1090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51776" y="172739"/>
            <a:ext cx="122411" cy="1224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7607808" y="135174"/>
            <a:ext cx="146919" cy="14691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1936" y="23666"/>
            <a:ext cx="108185" cy="10818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6064" y="128990"/>
            <a:ext cx="124433" cy="12443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80192" y="162179"/>
            <a:ext cx="139100" cy="13910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36224" y="63490"/>
            <a:ext cx="167026" cy="167026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92256" y="154798"/>
            <a:ext cx="121788" cy="12178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288" y="213720"/>
            <a:ext cx="108972" cy="10897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04320" y="68129"/>
            <a:ext cx="124167" cy="12416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How it works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11338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7" name="Shape 35"/>
          <p:cNvSpPr/>
          <p:nvPr/>
        </p:nvSpPr>
        <p:spPr>
          <a:xfrm>
            <a:off x="566928" y="1883664"/>
            <a:ext cx="5486400" cy="1664208"/>
          </a:xfrm>
          <a:prstGeom prst="roundRect">
            <a:avLst>
              <a:gd name="adj" fmla="val 274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" y="204825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04672" y="2377440"/>
            <a:ext cx="5010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3.7 Flash routes, translates and explains.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multimodal handles crop photographs.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audio understanding handles speech-to-text.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TTS returns spoken answers.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 supports retrieval.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81928" y="1883664"/>
            <a:ext cx="5340096" cy="1664208"/>
          </a:xfrm>
          <a:prstGeom prst="roundRect">
            <a:avLst>
              <a:gd name="adj" fmla="val 274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19672" y="2048256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AGRONOMY + DATA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519672" y="2377440"/>
            <a:ext cx="4864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Penman-Monteith, daily root-zone water balance.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FAO-33 yield response to water.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RothC-26.3 soil carbon, IPCC Tier 3.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epidemiology and NDVI crop assessment.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weather, satellite, market, published advisory.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" y="3694176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241F18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4672" y="3840480"/>
            <a:ext cx="10579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EVERYTHING FOLLOWS FROM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04672" y="4151376"/>
            <a:ext cx="10579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never computes agronomy. It routes, translates and explains — every number a farmer acts on comes from a validated model running on real measurements. This is not architectural preference. An LLM asked for an irrigation depth returns a fluent, confident, unfalsifiable number, and it is indistinguishable from a correct one to the person standing in the field.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68096" y="5175504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47" name="Text 45"/>
          <p:cNvSpPr txBox="1"/>
          <p:nvPr/>
        </p:nvSpPr>
        <p:spPr>
          <a:xfrm>
            <a:off x="768096" y="565099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the model can call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30702" y="5248656"/>
            <a:ext cx="0" cy="749808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531870" y="5175504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50" name="Text 48"/>
          <p:cNvSpPr txBox="1"/>
          <p:nvPr/>
        </p:nvSpPr>
        <p:spPr>
          <a:xfrm>
            <a:off x="3531870" y="565099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voice in and out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94476" y="5248656"/>
            <a:ext cx="0" cy="749808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295644" y="5175504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448</a:t>
            </a:r>
            <a:endParaRPr lang="en-US" sz="3000" dirty="0"/>
          </a:p>
        </p:txBody>
      </p:sp>
      <p:sp>
        <p:nvSpPr>
          <p:cNvPr id="53" name="Text 51"/>
          <p:cNvSpPr txBox="1"/>
          <p:nvPr/>
        </p:nvSpPr>
        <p:spPr>
          <a:xfrm>
            <a:off x="6295644" y="565099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858250" y="5248656"/>
            <a:ext cx="0" cy="749808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59418" y="5175504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kB</a:t>
            </a:r>
            <a:endParaRPr lang="en-US" sz="3000" dirty="0"/>
          </a:p>
        </p:txBody>
      </p:sp>
      <p:sp>
        <p:nvSpPr>
          <p:cNvPr id="56" name="Text 54"/>
          <p:cNvSpPr txBox="1"/>
          <p:nvPr/>
        </p:nvSpPr>
        <p:spPr>
          <a:xfrm>
            <a:off x="9059418" y="565099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gzipped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86508"/>
            <a:ext cx="159517" cy="15951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18339"/>
            <a:ext cx="134593" cy="13459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118814"/>
            <a:ext cx="110530" cy="11053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212636"/>
            <a:ext cx="169041" cy="16904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213514"/>
            <a:ext cx="134774" cy="13477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7" name="Shape 5"/>
          <p:cNvSpPr/>
          <p:nvPr/>
        </p:nvSpPr>
        <p:spPr>
          <a:xfrm>
            <a:off x="3255264" y="113514"/>
            <a:ext cx="142541" cy="14254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8" name="Shape 6"/>
          <p:cNvSpPr/>
          <p:nvPr/>
        </p:nvSpPr>
        <p:spPr>
          <a:xfrm>
            <a:off x="3767328" y="167283"/>
            <a:ext cx="123356" cy="12335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138536"/>
            <a:ext cx="113665" cy="11366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0" name="Shape 8"/>
          <p:cNvSpPr/>
          <p:nvPr/>
        </p:nvSpPr>
        <p:spPr>
          <a:xfrm>
            <a:off x="4535424" y="88324"/>
            <a:ext cx="141757" cy="141757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1" name="Shape 9"/>
          <p:cNvSpPr/>
          <p:nvPr/>
        </p:nvSpPr>
        <p:spPr>
          <a:xfrm>
            <a:off x="4791456" y="73555"/>
            <a:ext cx="123501" cy="123501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64144"/>
            <a:ext cx="105483" cy="10548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3" name="Shape 11"/>
          <p:cNvSpPr/>
          <p:nvPr/>
        </p:nvSpPr>
        <p:spPr>
          <a:xfrm>
            <a:off x="5559552" y="93657"/>
            <a:ext cx="144102" cy="14410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71616" y="208401"/>
            <a:ext cx="159937" cy="15993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180366"/>
            <a:ext cx="163419" cy="16341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91429"/>
            <a:ext cx="150305" cy="15030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5744" y="91394"/>
            <a:ext cx="101393" cy="10139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07808" y="188189"/>
            <a:ext cx="118661" cy="11866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137395"/>
            <a:ext cx="127526" cy="127526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0" name="Shape 18"/>
          <p:cNvSpPr/>
          <p:nvPr/>
        </p:nvSpPr>
        <p:spPr>
          <a:xfrm>
            <a:off x="8375904" y="117186"/>
            <a:ext cx="137611" cy="13761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79199"/>
            <a:ext cx="118898" cy="11889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2" name="Shape 20"/>
          <p:cNvSpPr/>
          <p:nvPr/>
        </p:nvSpPr>
        <p:spPr>
          <a:xfrm>
            <a:off x="8887968" y="144051"/>
            <a:ext cx="172299" cy="17229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37654"/>
            <a:ext cx="154696" cy="15469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4116"/>
            <a:ext cx="165162" cy="16516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36224" y="207109"/>
            <a:ext cx="160051" cy="16005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92256" y="198477"/>
            <a:ext cx="154772" cy="15477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48288" y="139795"/>
            <a:ext cx="118834" cy="11883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How we keep AI grounded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+ FEDERATION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338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keep AI grounded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566928" y="1883664"/>
            <a:ext cx="5486400" cy="1664208"/>
          </a:xfrm>
          <a:prstGeom prst="roundRect">
            <a:avLst>
              <a:gd name="adj" fmla="val 274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204825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SOURCE-BACKED GUIDANCE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2377440"/>
            <a:ext cx="5010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6,396 agriculture passages from Vikaspedia, published by C-DAC under MeitY, embedded with gemini-embedding-001.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0.62 similarity floor turns weak retrieval into abstention. On-topic questions score 0.71–0.79; off-topic 0.50–0.55.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Punjabi questions retrieve English passages and answer in the language asked.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81928" y="1883664"/>
            <a:ext cx="5340096" cy="1664208"/>
          </a:xfrm>
          <a:prstGeom prst="roundRect">
            <a:avLst>
              <a:gd name="adj" fmla="val 274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19672" y="2048256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FEDERATION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519672" y="2377440"/>
            <a:ext cx="4864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country nodes train locally and publish weights only.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model on another country's fields: 212 mm RMSE. The federated model, anywhere: 59 mm. Federated then fine-tuned locally: 50 mm.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records transmitted: zero. 209 parameters per node per round.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3694176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241F18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672" y="3840480"/>
            <a:ext cx="10579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THAT READS THE ANSWER BACK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04672" y="4151376"/>
            <a:ext cx="10579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does not stop a model inventing — it lends the invention a citation. Asked how to deworm a buffalo calf, the assistant retrieved genuine ICAR passages giving Albendazole at 10 mg/kg, then added a dosing schedule and a second drug that appear in no passage, and said the government advisory recommended it. Two rounds of prompt-writing did not stop it. Every figure in a sourced answer is now matched against the passages it came from; unmatched figures raise a warning naming who to confirm with. It now refuses the question outright.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768096" y="5175504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768096" y="565099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floor, below which nothing is quoted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330702" y="5248656"/>
            <a:ext cx="0" cy="749808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31870" y="5175504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 → 50</a:t>
            </a:r>
            <a:endParaRPr lang="en-US" sz="3000" dirty="0"/>
          </a:p>
        </p:txBody>
      </p:sp>
      <p:sp>
        <p:nvSpPr>
          <p:cNvPr id="47" name="Text 45"/>
          <p:cNvSpPr txBox="1"/>
          <p:nvPr/>
        </p:nvSpPr>
        <p:spPr>
          <a:xfrm>
            <a:off x="3531870" y="565099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RMSE: a foreign model, then federated + local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094476" y="5248656"/>
            <a:ext cx="0" cy="749808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95644" y="5175504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3000" dirty="0"/>
          </a:p>
        </p:txBody>
      </p:sp>
      <p:sp>
        <p:nvSpPr>
          <p:cNvPr id="50" name="Text 48"/>
          <p:cNvSpPr txBox="1"/>
          <p:nvPr/>
        </p:nvSpPr>
        <p:spPr>
          <a:xfrm>
            <a:off x="6295644" y="565099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shared per node, per round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858250" y="5248656"/>
            <a:ext cx="0" cy="749808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59418" y="5175504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53" name="Text 51"/>
          <p:cNvSpPr txBox="1"/>
          <p:nvPr/>
        </p:nvSpPr>
        <p:spPr>
          <a:xfrm>
            <a:off x="9059418" y="5650992"/>
            <a:ext cx="24894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records ever transmitted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6382"/>
            <a:ext cx="150868" cy="15086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76172"/>
            <a:ext cx="105680" cy="10568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31784"/>
            <a:ext cx="152253" cy="15225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1719072" y="97379"/>
            <a:ext cx="159520" cy="15952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155085"/>
            <a:ext cx="157402" cy="15740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3767328" y="62056"/>
            <a:ext cx="119059" cy="11905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210650"/>
            <a:ext cx="141701" cy="14170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97129"/>
            <a:ext cx="165449" cy="16544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0" y="210940"/>
            <a:ext cx="141485" cy="14148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1" name="Shape 9"/>
          <p:cNvSpPr/>
          <p:nvPr/>
        </p:nvSpPr>
        <p:spPr>
          <a:xfrm>
            <a:off x="5559552" y="21754"/>
            <a:ext cx="115851" cy="11585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815584" y="184574"/>
            <a:ext cx="125271" cy="12527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71616" y="216300"/>
            <a:ext cx="115044" cy="11504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6839712" y="36908"/>
            <a:ext cx="140738" cy="14073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5744" y="120716"/>
            <a:ext cx="106216" cy="106216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1776" y="98789"/>
            <a:ext cx="144569" cy="14456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147415"/>
            <a:ext cx="146291" cy="14629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8375904" y="171764"/>
            <a:ext cx="166461" cy="166461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1936" y="193589"/>
            <a:ext cx="165452" cy="16545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0" name="Shape 18"/>
          <p:cNvSpPr/>
          <p:nvPr/>
        </p:nvSpPr>
        <p:spPr>
          <a:xfrm>
            <a:off x="8887968" y="170530"/>
            <a:ext cx="106883" cy="10688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1" name="Shape 19"/>
          <p:cNvSpPr/>
          <p:nvPr/>
        </p:nvSpPr>
        <p:spPr>
          <a:xfrm>
            <a:off x="9400032" y="104444"/>
            <a:ext cx="158636" cy="158636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6064" y="208951"/>
            <a:ext cx="139095" cy="13909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9912096" y="203028"/>
            <a:ext cx="109332" cy="10933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24160" y="24307"/>
            <a:ext cx="171913" cy="17191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92256" y="7816"/>
            <a:ext cx="162899" cy="1628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48288" y="80216"/>
            <a:ext cx="107140" cy="10714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704320" y="59596"/>
            <a:ext cx="154399" cy="15439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64424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Built for real farmers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8961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ACCESSIBILITY + SAFETY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338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farmers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566928" y="1883664"/>
            <a:ext cx="5486400" cy="1664208"/>
          </a:xfrm>
          <a:prstGeom prst="roundRect">
            <a:avLst>
              <a:gd name="adj" fmla="val 274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2048256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MAY NOT READ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2377440"/>
            <a:ext cx="5010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and out in 24 languages, synthesised server-side.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each language — Saathi, ਸਾਥੀ, 农友, Parceiro, Umngane.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Pictogram grammar: state → duration → action → quantity.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units first; prices always carry “per quintal”.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first; the numbers sit underneath.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81928" y="1883664"/>
            <a:ext cx="5340096" cy="1664208"/>
          </a:xfrm>
          <a:prstGeom prst="roundRect">
            <a:avLst>
              <a:gd name="adj" fmla="val 274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19672" y="2048256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IS A FEATURE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519672" y="2377440"/>
            <a:ext cx="4864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Unusable crop photographs are refused, with instructions.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pesticide dose is emitted — the schema has no field for one.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forecasting, ever.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Urban-mask soil displacement is disclosed.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thresholds are not claimed to be per-field accurate.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3694176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241F18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672" y="3840480"/>
            <a:ext cx="10579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REFUSES, AT EVERY LAYER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04672" y="4151376"/>
            <a:ext cx="50612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— silence never becomes words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— a masked cell is “no data”, not a nearby guess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balance — an uncalibrated crop is named, not guessed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— a photo that cannot support a verdict is declined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048756" y="4151376"/>
            <a:ext cx="50612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— today's rate and the MSP floor, never a forecast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below 0.62 similarity, nothing is quoted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a figure absent from the source raises a warning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— navigation, never an eligibility ruling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389888" y="5193792"/>
            <a:ext cx="9409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farmer told “the soil map is uncertain here — a KVK soil test would be firmer” has been served well. One given a confident wrong number has been harmed.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— added slides</dc:title>
  <dc:subject>PptxGenJS Presentation</dc:subject>
  <dc:creator>Harnoor Singh, Japleen Kaur</dc:creator>
  <cp:lastModifiedBy>Harnoor Singh, Japleen Kaur</cp:lastModifiedBy>
  <cp:revision>1</cp:revision>
  <dcterms:created xsi:type="dcterms:W3CDTF">2026-09-29T11:22:13Z</dcterms:created>
  <dcterms:modified xsi:type="dcterms:W3CDTF">2026-09-29T11:22:13Z</dcterms:modified>
</cp:coreProperties>
</file>