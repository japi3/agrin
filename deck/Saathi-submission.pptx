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problems were already here. The statistics size them and the contrast at the bottom is the pitch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exchange from the running app,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diagram out. Walk the five numbers on the left and let the picture carry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loud. Judges trust a team that separates what it built from what it hopes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right-hand box. Refusing to invent impact numbers is the same discipline the product is built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70097"/>
            <a:ext cx="161531" cy="16153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77844"/>
            <a:ext cx="145481" cy="1454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975104" y="139604"/>
            <a:ext cx="155305" cy="15530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2487168" y="172030"/>
            <a:ext cx="167079" cy="16707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36546"/>
            <a:ext cx="143197" cy="14319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7" name="Shape 5"/>
          <p:cNvSpPr/>
          <p:nvPr/>
        </p:nvSpPr>
        <p:spPr>
          <a:xfrm>
            <a:off x="2999232" y="44771"/>
            <a:ext cx="122153" cy="12215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8" name="Shape 6"/>
          <p:cNvSpPr/>
          <p:nvPr/>
        </p:nvSpPr>
        <p:spPr>
          <a:xfrm>
            <a:off x="3255264" y="3813"/>
            <a:ext cx="112812" cy="11281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3820"/>
            <a:ext cx="106337" cy="10633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61677"/>
            <a:ext cx="120735" cy="12073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5155"/>
            <a:ext cx="123411" cy="12341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7488" y="151826"/>
            <a:ext cx="166682" cy="16668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62567"/>
            <a:ext cx="102613" cy="10261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84902"/>
            <a:ext cx="104064" cy="10406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137431"/>
            <a:ext cx="137559" cy="13755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10722"/>
            <a:ext cx="102978" cy="10297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69765"/>
            <a:ext cx="166591" cy="16659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16362"/>
            <a:ext cx="162256" cy="1622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33690"/>
            <a:ext cx="148804" cy="1488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69179"/>
            <a:ext cx="148783" cy="14878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912096" y="215187"/>
            <a:ext cx="163906" cy="16390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8128" y="80159"/>
            <a:ext cx="131750" cy="13175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25112"/>
            <a:ext cx="136318" cy="1363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189381"/>
            <a:ext cx="150474" cy="15047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3461"/>
            <a:ext cx="161386" cy="16138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2011680"/>
            <a:ext cx="5852160" cy="5852160"/>
          </a:xfrm>
          <a:prstGeom prst="ellipse">
            <a:avLst/>
          </a:prstGeom>
          <a:solidFill>
            <a:srgbClr val="1F2B1A">
              <a:alpha val="45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19019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Saathi  ·  ਸਾਥੀ  🌾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2450592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Regenerative agricultural intelligence,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farmer's own voice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114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AI farming assistant for Indian farmers, where every actionable number comes from a validated agronomic model rather than the language model.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4754880" cy="0"/>
          </a:xfrm>
          <a:prstGeom prst="line">
            <a:avLst/>
          </a:prstGeom>
          <a:noFill/>
          <a:ln w="12700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5285232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2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4 · AGRIN &amp; REGENERATIVE AGRICULTURAL INTELLIGENCE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spc="12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BRICS theme: Cooperation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870448"/>
            <a:ext cx="9144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Harnoor Singh · Japleen Kaur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↗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97223"/>
            <a:ext cx="103952" cy="10395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1207008" y="163732"/>
            <a:ext cx="121873" cy="12187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9672"/>
            <a:ext cx="109110" cy="10911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174"/>
            <a:ext cx="113491" cy="11349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60653"/>
            <a:ext cx="129603" cy="12960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129789"/>
            <a:ext cx="163098" cy="1630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173639"/>
            <a:ext cx="154476" cy="15447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136133"/>
            <a:ext cx="124947" cy="12494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8298"/>
            <a:ext cx="150894" cy="1508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0744"/>
            <a:ext cx="168134" cy="16813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156772"/>
            <a:ext cx="131885" cy="1318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72466"/>
            <a:ext cx="125876" cy="12587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46946"/>
            <a:ext cx="103442" cy="10344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5744" y="162606"/>
            <a:ext cx="159538" cy="15953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1176"/>
            <a:ext cx="147996" cy="14799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7808" y="204808"/>
            <a:ext cx="147558" cy="14755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85217"/>
            <a:ext cx="151717" cy="151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143472"/>
            <a:ext cx="144299" cy="1442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1936" y="178124"/>
            <a:ext cx="140099" cy="1400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08830"/>
            <a:ext cx="113231" cy="1132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400032" y="58212"/>
            <a:ext cx="152165" cy="15216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8128" y="44451"/>
            <a:ext cx="153193" cy="15319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79418"/>
            <a:ext cx="126844" cy="12684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80192" y="152234"/>
            <a:ext cx="125560" cy="12556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36224" y="154709"/>
            <a:ext cx="107838" cy="1078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28320"/>
            <a:ext cx="107102" cy="10710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18105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7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22494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farmers work two hectares or less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(Agriculture Census 2015-16)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1865376"/>
            <a:ext cx="0" cy="768096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34840" y="18105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 ha</a:t>
            </a:r>
            <a:endParaRPr lang="en-US" sz="27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22494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holding — too small to absorb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decision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36992" y="1865376"/>
            <a:ext cx="0" cy="768096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19872" y="181051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700" dirty="0"/>
          </a:p>
        </p:txBody>
      </p:sp>
      <p:sp>
        <p:nvSpPr>
          <p:cNvPr id="41" name="Text 39"/>
          <p:cNvSpPr txBox="1"/>
          <p:nvPr/>
        </p:nvSpPr>
        <p:spPr>
          <a:xfrm>
            <a:off x="8119872" y="224942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languages; an assistant that reads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 use to someone who does not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2871216"/>
            <a:ext cx="3529584" cy="1572768"/>
          </a:xfrm>
          <a:prstGeom prst="roundRect">
            <a:avLst>
              <a:gd name="adj" fmla="val 290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303580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DOES NOT REACH THE FIELD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" y="3364992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advice is general to a district, not specific to a farmer's field.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brings field context into the conversation.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97680" y="2871216"/>
            <a:ext cx="3529584" cy="1572768"/>
          </a:xfrm>
          <a:prstGeom prst="roundRect">
            <a:avLst>
              <a:gd name="adj" fmla="val 290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17136" y="303580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MAY NOT READ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517136" y="3364992"/>
            <a:ext cx="3090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software often assumes literacy, smartphone habits and English.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is voice-first and multilingual.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28432" y="2871216"/>
            <a:ext cx="3593592" cy="1572768"/>
          </a:xfrm>
          <a:prstGeom prst="roundRect">
            <a:avLst>
              <a:gd name="adj" fmla="val 2907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47888" y="30358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GUESSES IS WORSE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47888" y="3364992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irrigation depth or pesticide dose can look correct to the person acting on it.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separates language-model reasoning from validated agronomy.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66928" y="4608576"/>
            <a:ext cx="11055096" cy="1316736"/>
          </a:xfrm>
          <a:prstGeom prst="roundRect">
            <a:avLst>
              <a:gd name="adj" fmla="val 3472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6384" y="4773168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QUESTION, TWO ANSWERS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86384" y="5102352"/>
            <a:ext cx="10616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I irrigate my wheat today?”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chatbot:  “Wheat usually needs irrigation every 20–25 days, around crown root initiation…”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Saathi:  “No water this week. Your root zone holds 62 mm and the crop needs 41 mm before Friday's rain.”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3416"/>
            <a:ext cx="173680" cy="1736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41101"/>
            <a:ext cx="127032" cy="12703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198406"/>
            <a:ext cx="142364" cy="14236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218474"/>
            <a:ext cx="114768" cy="11476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60723"/>
            <a:ext cx="104484" cy="10448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88540"/>
            <a:ext cx="158014" cy="15801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487168" y="13294"/>
            <a:ext cx="112610" cy="11261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13453"/>
            <a:ext cx="166420" cy="16642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2999232" y="79478"/>
            <a:ext cx="148375" cy="14837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23995"/>
            <a:ext cx="155544" cy="1555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197832"/>
            <a:ext cx="130033" cy="13003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72775"/>
            <a:ext cx="153757" cy="15375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43421"/>
            <a:ext cx="131305" cy="13130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1782"/>
            <a:ext cx="153124" cy="15312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95682"/>
            <a:ext cx="111997" cy="11199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39712" y="11591"/>
            <a:ext cx="117680" cy="11768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95744" y="173512"/>
            <a:ext cx="173018" cy="173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1776" y="199064"/>
            <a:ext cx="100614" cy="1006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146826"/>
            <a:ext cx="159690" cy="15969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87968" y="78707"/>
            <a:ext cx="148717" cy="148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2315"/>
            <a:ext cx="139212" cy="13921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51349"/>
            <a:ext cx="114000" cy="114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58711"/>
            <a:ext cx="161274" cy="16127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149657"/>
            <a:ext cx="103410" cy="10341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157192"/>
            <a:ext cx="143248" cy="14324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04320" y="58720"/>
            <a:ext cx="111804" cy="11180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we built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177393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 is already structured around the farmer's question, field context, validated models and source-backed guidance.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2194560"/>
            <a:ext cx="11055096" cy="1170432"/>
          </a:xfrm>
          <a:prstGeom prst="roundRect">
            <a:avLst>
              <a:gd name="adj" fmla="val 3906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2359152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2688336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multilingual, voice-first farming assistant that accepts text, voice and crop photos and returns field-specific guidance in the farmer's language — running today against live soil, weather, satellite, market and published advisory sources.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" y="3547872"/>
            <a:ext cx="3529584" cy="1499616"/>
          </a:xfrm>
          <a:prstGeom prst="roundRect">
            <a:avLst>
              <a:gd name="adj" fmla="val 3049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" y="37124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LANGUAGES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" y="4041648"/>
            <a:ext cx="3090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and out. Script detection is handled in code before the model sees the request.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3547872"/>
            <a:ext cx="3529584" cy="1499616"/>
          </a:xfrm>
          <a:prstGeom prst="roundRect">
            <a:avLst>
              <a:gd name="adj" fmla="val 3049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17136" y="37124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17136" y="4041648"/>
            <a:ext cx="3090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function calling routes questions to agronomic, data and advisory tools.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28432" y="3547872"/>
            <a:ext cx="3593592" cy="1499616"/>
          </a:xfrm>
          <a:prstGeom prst="roundRect">
            <a:avLst>
              <a:gd name="adj" fmla="val 3049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47888" y="37124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TESTS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247888" y="4041648"/>
            <a:ext cx="3154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≈250 agronomy · 80 API · 73 retrieval · 19 federation · 15 data-layer.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6928" y="5212080"/>
            <a:ext cx="11055096" cy="713232"/>
          </a:xfrm>
          <a:prstGeom prst="roundRect">
            <a:avLst>
              <a:gd name="adj" fmla="val 6410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5376672"/>
            <a:ext cx="10616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prototype: one container serves the API and the app, every data source is open-licensed, and the whole system runs on free tiers.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7217"/>
            <a:ext cx="127636" cy="12763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32140"/>
            <a:ext cx="101723" cy="1017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54256"/>
            <a:ext cx="156114" cy="15611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686"/>
            <a:ext cx="103995" cy="1039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74496"/>
            <a:ext cx="173140" cy="17314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70967"/>
            <a:ext cx="123137" cy="1231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73644"/>
            <a:ext cx="159132" cy="15913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130708"/>
            <a:ext cx="124318" cy="12431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40492"/>
            <a:ext cx="106252" cy="10625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182299"/>
            <a:ext cx="159182" cy="15918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7328" y="218063"/>
            <a:ext cx="130326" cy="13032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67297"/>
            <a:ext cx="135320" cy="13532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1709"/>
            <a:ext cx="117298" cy="1172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89067"/>
            <a:ext cx="117494" cy="1174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39551"/>
            <a:ext cx="108230" cy="108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5584" y="198671"/>
            <a:ext cx="156528" cy="15652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1616" y="38538"/>
            <a:ext cx="152001" cy="1520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57901"/>
            <a:ext cx="152119" cy="15211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9712" y="110315"/>
            <a:ext cx="145198" cy="1451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95744" y="205227"/>
            <a:ext cx="109011" cy="1090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172739"/>
            <a:ext cx="122411" cy="1224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135174"/>
            <a:ext cx="146919" cy="1469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23666"/>
            <a:ext cx="108185" cy="1081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28990"/>
            <a:ext cx="124433" cy="12443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80192" y="162179"/>
            <a:ext cx="139100" cy="1391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6224" y="63490"/>
            <a:ext cx="167026" cy="167026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54798"/>
            <a:ext cx="121788" cy="1217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213720"/>
            <a:ext cx="108972" cy="10897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68129"/>
            <a:ext cx="124167" cy="12416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product, working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REAL EXCHANGE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Punjabi question, answered from a source</a:t>
            </a:r>
            <a:endParaRPr lang="en-US" sz="3400" dirty="0"/>
          </a:p>
        </p:txBody>
      </p:sp>
      <p:sp>
        <p:nvSpPr>
          <p:cNvPr id="37" name="Shape 35"/>
          <p:cNvSpPr/>
          <p:nvPr/>
        </p:nvSpPr>
        <p:spPr>
          <a:xfrm>
            <a:off x="566928" y="1828800"/>
            <a:ext cx="5449824" cy="3108960"/>
          </a:xfrm>
          <a:prstGeom prst="roundRect">
            <a:avLst>
              <a:gd name="adj" fmla="val 1471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199339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FARMER SAID AND HEARD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" y="2322576"/>
            <a:ext cx="5010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“ਕਣਕ ਦੀ ਬਿਜਾਈ ਤੋਂ ਪਹਿਲਾਂ ਬੀਜ ਦਾ ਇਲਾਜ ਕੀ ਹੈ?”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What seed treatment before sowing wheat?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“ਕਾਂਗਿਆਰੀ ਤੋਂ ਬਚਾਅ ਲਈ 40 ਕਿੱਲੋ ਬੀਜ ਨੂੰ 13 ਮਿਲੀਲੀਟਰ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ਟੈਬੂਕੋਨਾਜ਼ੋਲ 400 ਮਿਲੀਲੀਟਰ ਪਾਣੀ ਵਿੱਚ ਘੋਲ ਕੇ ਲਗਾਓ…”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Spoken back in Gurmukhi, with the source page linked beneath —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so the farmer, or the officer they show the phone to, can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open the original.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36208" y="1828800"/>
            <a:ext cx="5385816" cy="3108960"/>
          </a:xfrm>
          <a:prstGeom prst="roundRect">
            <a:avLst>
              <a:gd name="adj" fmla="val 1471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55664" y="1993392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BETWEEN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55664" y="2322576"/>
            <a:ext cx="49469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Speech → text, with a silence guard so an empty recording never becomes an invented sentence.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Script detected in code — Gurmukhi in, Gurmukhi out — before the model sees the question.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Gemini routes to the guidance tool: seed treatment is written down, not computed.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Retrieval searches 4,640 passages of government advisory material. Best match 0.77.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Every figure in the reply is checked back against the passage it came from.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answer is read aloud in Punjabi.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6928" y="5084064"/>
            <a:ext cx="11055096" cy="841248"/>
          </a:xfrm>
          <a:prstGeom prst="roundRect">
            <a:avLst>
              <a:gd name="adj" fmla="val 5435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" y="5248656"/>
            <a:ext cx="10616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English. The question was Punjabi. Cross-language retrieval is what lets one corpus serve twenty-four languages — and it is the difference between an assistant that sounds knowledgeable and one that can show you where it got that.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20207"/>
            <a:ext cx="151987" cy="15198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2231136" y="134341"/>
            <a:ext cx="157298" cy="1572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2487168" y="33456"/>
            <a:ext cx="134304" cy="1343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39809"/>
            <a:ext cx="133684" cy="13368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3255264" y="179677"/>
            <a:ext cx="103317" cy="103317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7" name="Shape 5"/>
          <p:cNvSpPr/>
          <p:nvPr/>
        </p:nvSpPr>
        <p:spPr>
          <a:xfrm>
            <a:off x="3767328" y="173986"/>
            <a:ext cx="158024" cy="15802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8678"/>
            <a:ext cx="162077" cy="162077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25488"/>
            <a:ext cx="105772" cy="10577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791456" y="58263"/>
            <a:ext cx="105899" cy="1058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1736"/>
            <a:ext cx="109369" cy="10936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50859"/>
            <a:ext cx="117964" cy="11796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1936" y="202914"/>
            <a:ext cx="118281" cy="1182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103161"/>
            <a:ext cx="160345" cy="16034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38629"/>
            <a:ext cx="132733" cy="1327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202041"/>
            <a:ext cx="141301" cy="14130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92256" y="5330"/>
            <a:ext cx="128018" cy="128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48288" y="88993"/>
            <a:ext cx="102781" cy="1027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How it 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566928" y="1865376"/>
            <a:ext cx="5449824" cy="2139696"/>
          </a:xfrm>
          <a:prstGeom prst="roundRect">
            <a:avLst>
              <a:gd name="adj" fmla="val 2137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202996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359152"/>
            <a:ext cx="501091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 routes, translates and explains.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 handles crop photographs.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audio understanding handles speech-to-text.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TTS returns spoken answers.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supports retrieval.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36208" y="1865376"/>
            <a:ext cx="5385816" cy="2139696"/>
          </a:xfrm>
          <a:prstGeom prst="roundRect">
            <a:avLst>
              <a:gd name="adj" fmla="val 2137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55664" y="2029968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AGRONOMY + DATA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2359152"/>
            <a:ext cx="494690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Penman-Monteith and daily root-zone water balance.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FAO-33 yield response to water.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RothC-26.3 soil carbon model.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epidemiology and NDVI-based crop assessment.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weather, satellite, market and published advisory sources.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4169664"/>
            <a:ext cx="11055096" cy="1243584"/>
          </a:xfrm>
          <a:prstGeom prst="roundRect">
            <a:avLst>
              <a:gd name="adj" fmla="val 3676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334256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EVERYTHING FOLLOWS FROM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" y="4663440"/>
            <a:ext cx="10616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never computes agronomy. It routes, translates and explains — every number a farmer acts on comes from a validated model running on real measurements. This is not architectural preference. An LLM asked for an irrigation depth returns a fluent, confident, unfalsifiable number, and it is indistinguishable from a correct one to the person standing in the field.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5778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understands.   ·   Tools calculate.   ·   Validation decides what is shown.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995"/>
            <a:ext cx="140614" cy="14061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93531"/>
            <a:ext cx="117646" cy="11764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163343"/>
            <a:ext cx="163713" cy="16371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2487168" y="42378"/>
            <a:ext cx="105582" cy="10558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764"/>
            <a:ext cx="170504" cy="1705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207300"/>
            <a:ext cx="139541" cy="13954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23782"/>
            <a:ext cx="104833" cy="1048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3767328" y="162180"/>
            <a:ext cx="118192" cy="11819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66235"/>
            <a:ext cx="168956" cy="1689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69487"/>
            <a:ext cx="141229" cy="14122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5424" y="93856"/>
            <a:ext cx="121535" cy="12153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1456" y="101168"/>
            <a:ext cx="149670" cy="14967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66833"/>
            <a:ext cx="137292" cy="13729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5559552" y="56068"/>
            <a:ext cx="145684" cy="14568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15584" y="136760"/>
            <a:ext cx="121523" cy="12152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1616" y="12523"/>
            <a:ext cx="158362" cy="15836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51369"/>
            <a:ext cx="115064" cy="11506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9712" y="105414"/>
            <a:ext cx="105454" cy="1054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5744" y="205424"/>
            <a:ext cx="160950" cy="1609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51776" y="7057"/>
            <a:ext cx="151231" cy="151231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7808" y="80803"/>
            <a:ext cx="113471" cy="11347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194410"/>
            <a:ext cx="122967" cy="12296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188171"/>
            <a:ext cx="101983" cy="10198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02140"/>
            <a:ext cx="158429" cy="15842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9912096" y="145343"/>
            <a:ext cx="126009" cy="12600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80192" y="54313"/>
            <a:ext cx="125518" cy="12551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36224" y="81350"/>
            <a:ext cx="103818" cy="1038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92256" y="70603"/>
            <a:ext cx="151856" cy="15185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116076"/>
            <a:ext cx="128283" cy="12828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What Saathi does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Saathi does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18836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170432" y="1865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your language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4544568" y="1865376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in the farmer's preferred language, with spoken output.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239572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25054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1170432" y="2487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guidance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544568" y="2487168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daily root-zone water balance answers whether the field needs water.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3017520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31272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1170432" y="31089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4544568" y="3108960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 compared with expected crop stage; Gemini vision supports plant-photo analysis.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3639312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" y="3749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1170432" y="37307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&amp; weather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4544568" y="3730752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SoilGrids data and live weather provide field context — anywhere in India in ~6 ms.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66928" y="4261104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43708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1170432" y="43525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schemes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4544568" y="4352544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water-balance yield plus mandi data; government schemes with screening questions.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66928" y="488289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6928" y="49926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1170432" y="49743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guidance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4544568" y="4974336"/>
            <a:ext cx="7077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Varieties, seed rates, spacing and treatment quoted from government sources, with the link.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566928" y="5705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anything else. It is a capable assistant, not a crop bot.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9706"/>
            <a:ext cx="135808" cy="13580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29050"/>
            <a:ext cx="103554" cy="10355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210976"/>
            <a:ext cx="116414" cy="1164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89715"/>
            <a:ext cx="111100" cy="11110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86978"/>
            <a:ext cx="127418" cy="1274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56516"/>
            <a:ext cx="128262" cy="12826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213106"/>
            <a:ext cx="106454" cy="1064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90221"/>
            <a:ext cx="111121" cy="11112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6866"/>
            <a:ext cx="119596" cy="11959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28434"/>
            <a:ext cx="165179" cy="16517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7488" y="103266"/>
            <a:ext cx="157164" cy="15716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2256"/>
            <a:ext cx="135514" cy="1355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13169"/>
            <a:ext cx="109839" cy="10983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9712" y="45601"/>
            <a:ext cx="116013" cy="11601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133114"/>
            <a:ext cx="129647" cy="12964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1776" y="131272"/>
            <a:ext cx="121625" cy="12162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184073"/>
            <a:ext cx="138365" cy="13836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1936" y="130372"/>
            <a:ext cx="134500" cy="1345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30184"/>
            <a:ext cx="108716" cy="10871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0032" y="164977"/>
            <a:ext cx="124502" cy="1245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26357"/>
            <a:ext cx="168800" cy="16880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44424"/>
            <a:ext cx="161078" cy="16107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48288" y="182742"/>
            <a:ext cx="151555" cy="15155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architecture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400" dirty="0"/>
          </a:p>
        </p:txBody>
      </p:sp>
      <p:pic>
        <p:nvPicPr>
          <p:cNvPr id="31" name="Image 0" descr="/Users/japleenkaur/Desktop/agrin/deck/Saathi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515" y="1737360"/>
            <a:ext cx="6592529" cy="408736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66928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THIS WAY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2103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59536" y="21031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speaks, types or photographs a leaf, in any of 24 languages.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59536" y="2889504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is decided in code before Gemini sees the question.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3675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59536" y="3675888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routes to tools. It never computes the answer itself.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62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59536" y="446227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models run on live soil, weather, satellite and market data.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66928" y="52486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59536" y="5248656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checked, then spoken back in the farmer's own script.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13507"/>
            <a:ext cx="162916" cy="16291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5424"/>
            <a:ext cx="112628" cy="1126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218244"/>
            <a:ext cx="136434" cy="13643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2231136" y="189292"/>
            <a:ext cx="102268" cy="10226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999232" y="126060"/>
            <a:ext cx="109215" cy="10921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139546"/>
            <a:ext cx="139841" cy="13984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218721"/>
            <a:ext cx="130276" cy="13027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3767328" y="96885"/>
            <a:ext cx="106063" cy="10606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49829"/>
            <a:ext cx="138600" cy="13860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82193"/>
            <a:ext cx="157945" cy="15794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91456" y="155360"/>
            <a:ext cx="122450" cy="1224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47488" y="52536"/>
            <a:ext cx="155577" cy="15557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93282"/>
            <a:ext cx="109205" cy="10920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79195"/>
            <a:ext cx="124837" cy="1248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20239"/>
            <a:ext cx="150356" cy="1503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8497"/>
            <a:ext cx="158856" cy="15885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9712" y="22948"/>
            <a:ext cx="103432" cy="10343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212444"/>
            <a:ext cx="143491" cy="14349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20489"/>
            <a:ext cx="104928" cy="1049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13929"/>
            <a:ext cx="151729" cy="15172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124879"/>
            <a:ext cx="148323" cy="14832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2096" y="166212"/>
            <a:ext cx="112518" cy="1125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138561"/>
            <a:ext cx="145624" cy="14562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114028"/>
            <a:ext cx="151717" cy="15171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Verification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verify it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1847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944368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worked Example 18 reproduced, including every intermediate term → ET₀ = 3.9 mm/day.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36408" y="1828800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evapotranspiration is the published standard, not an approximation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239572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2505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REFERENCE ET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944368" y="2487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0.228 mm/day against an independent implementation, 264 station-days, five BRICS members.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836408" y="2487168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agrees with someone else's code on live weather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305409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944368" y="31455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conservation closes to &lt; 0.5 mm over a full season, irrigated and rainfed, sand to clay.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836408" y="3145536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water accounting invents nothing and loses nothing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3712464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944368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29/35 questions return the right subject first; 8/8 off-topic questions are refused.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836408" y="3803904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corpus answers what it knows and stays silent otherwise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6928" y="4370832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CHECK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2944368" y="44622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distribution checked against 22 real Punjab–Haryana wheat fields.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836408" y="4462272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satellite thresholds are calibrated at population level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" y="5029200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6928" y="5138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AUTOMATED TESTS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2944368" y="5120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≈250 agronomy · 80 API · 73 retrieval · 19 federation · 15 data-layer. No network needed.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836408" y="5120640"/>
            <a:ext cx="3785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behaviour is pinned, and a reviewer can run it without a key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57972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command in the repository, not a claim in a slide.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4271"/>
            <a:ext cx="117232" cy="11723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49641"/>
            <a:ext cx="112354" cy="1123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22146"/>
            <a:ext cx="169075" cy="16907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53876"/>
            <a:ext cx="166860" cy="16686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67405"/>
            <a:ext cx="107925" cy="10792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7" name="Shape 5"/>
          <p:cNvSpPr/>
          <p:nvPr/>
        </p:nvSpPr>
        <p:spPr>
          <a:xfrm>
            <a:off x="1719072" y="20482"/>
            <a:ext cx="136236" cy="13623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1975104" y="166650"/>
            <a:ext cx="158523" cy="15852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197476"/>
            <a:ext cx="102390" cy="10239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170001"/>
            <a:ext cx="130329" cy="13032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4794"/>
            <a:ext cx="133024" cy="13302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85130"/>
            <a:ext cx="158082" cy="15808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209242"/>
            <a:ext cx="103386" cy="10338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88" y="122536"/>
            <a:ext cx="135784" cy="13578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559552" y="175100"/>
            <a:ext cx="116112" cy="11611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160637"/>
            <a:ext cx="114045" cy="11404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54806"/>
            <a:ext cx="152890" cy="15289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116951"/>
            <a:ext cx="157861" cy="15786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07808" y="201808"/>
            <a:ext cx="152069" cy="15206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40097"/>
            <a:ext cx="118109" cy="11810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30558"/>
            <a:ext cx="167342" cy="16734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176599"/>
            <a:ext cx="151451" cy="15145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8887968" y="12684"/>
            <a:ext cx="137659" cy="13765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00032" y="95746"/>
            <a:ext cx="158680" cy="1586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8128" y="68208"/>
            <a:ext cx="125646" cy="12564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24160" y="209007"/>
            <a:ext cx="170637" cy="17063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80192" y="92910"/>
            <a:ext cx="121604" cy="1216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6138"/>
            <a:ext cx="133375" cy="13337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79307"/>
            <a:ext cx="150342" cy="15034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How we keep AI grounded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+ FEDERATION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keep AI grounded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566928" y="1847088"/>
            <a:ext cx="5449824" cy="1755648"/>
          </a:xfrm>
          <a:prstGeom prst="roundRect">
            <a:avLst>
              <a:gd name="adj" fmla="val 2604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201168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SOURCE-BACKED GUIDANCE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2340864"/>
            <a:ext cx="50109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6,396 agriculture passages from Vikaspedia, published by C-DAC under MeitY.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0.62 similarity floor turns weak retrieval into abstention: on-topic questions score 0.65–0.80, off-topic 0.52–0.60.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Punjabi questions retrieve English source passages and answer in the language asked.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36208" y="1847088"/>
            <a:ext cx="5385816" cy="1755648"/>
          </a:xfrm>
          <a:prstGeom prst="roundRect">
            <a:avLst>
              <a:gd name="adj" fmla="val 2604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55664" y="201168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FEDERATION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55664" y="2340864"/>
            <a:ext cx="4946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country nodes train locally and publish weights only.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on another country's fields: 212 mm RMSE. The federated model, anywhere: 59 mm. Federated then fine-tuned: 50 mm.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records transmitted: zero. What holds between five countries holds between five states.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6928" y="3749040"/>
            <a:ext cx="11055096" cy="1316736"/>
          </a:xfrm>
          <a:prstGeom prst="roundRect">
            <a:avLst>
              <a:gd name="adj" fmla="val 3472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3913632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THAT READS THE ANSWER BACK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" y="4242816"/>
            <a:ext cx="10616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does not stop a model inventing — it lends the invention a citation. Asked how to deworm a buffalo calf, the assistant retrieved genuine ICAR passages giving Albendazole at 10 mg/kg, then added a dosing schedule and a second drug that appear in no passage, and said the government advisory recommended it. Two rounds of prompt-writing did not stop it. Every figure in a sourced answer is now matched against the passages it came from; unmatched figures raise a warning naming who to confirm with. It now refuses the question outright.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" y="51937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4,640</a:t>
            </a:r>
            <a:endParaRPr lang="en-US" sz="27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" y="5632704"/>
            <a:ext cx="2507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indexed so far, crop production first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330702" y="5248656"/>
            <a:ext cx="0" cy="768096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13582" y="51937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2700" dirty="0"/>
          </a:p>
        </p:txBody>
      </p:sp>
      <p:sp>
        <p:nvSpPr>
          <p:cNvPr id="49" name="Text 47"/>
          <p:cNvSpPr txBox="1"/>
          <p:nvPr/>
        </p:nvSpPr>
        <p:spPr>
          <a:xfrm>
            <a:off x="3513582" y="5632704"/>
            <a:ext cx="2507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correctly refused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94476" y="5248656"/>
            <a:ext cx="0" cy="768096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7356" y="51937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700" dirty="0"/>
          </a:p>
        </p:txBody>
      </p:sp>
      <p:sp>
        <p:nvSpPr>
          <p:cNvPr id="52" name="Text 50"/>
          <p:cNvSpPr txBox="1"/>
          <p:nvPr/>
        </p:nvSpPr>
        <p:spPr>
          <a:xfrm>
            <a:off x="6277356" y="5632704"/>
            <a:ext cx="2507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pesticides named, from the CIBRC list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858250" y="5248656"/>
            <a:ext cx="0" cy="768096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041130" y="51937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700" dirty="0"/>
          </a:p>
        </p:txBody>
      </p:sp>
      <p:sp>
        <p:nvSpPr>
          <p:cNvPr id="55" name="Text 53"/>
          <p:cNvSpPr txBox="1"/>
          <p:nvPr/>
        </p:nvSpPr>
        <p:spPr>
          <a:xfrm>
            <a:off x="9041130" y="5632704"/>
            <a:ext cx="2507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 ever transmitted between nodes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126860"/>
            <a:ext cx="136808" cy="13680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88006"/>
            <a:ext cx="149003" cy="14900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200756"/>
            <a:ext cx="128402" cy="12840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92255"/>
            <a:ext cx="101866" cy="10186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1975104" y="115859"/>
            <a:ext cx="109611" cy="1096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231136" y="106197"/>
            <a:ext cx="145347" cy="14534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3255264" y="26691"/>
            <a:ext cx="130523" cy="13052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91386"/>
            <a:ext cx="113646" cy="11364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0981"/>
            <a:ext cx="159869" cy="15986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1" name="Shape 9"/>
          <p:cNvSpPr/>
          <p:nvPr/>
        </p:nvSpPr>
        <p:spPr>
          <a:xfrm>
            <a:off x="5047488" y="76830"/>
            <a:ext cx="100823" cy="1008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95276"/>
            <a:ext cx="130975" cy="13097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19872" y="79124"/>
            <a:ext cx="104242" cy="10424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21126"/>
            <a:ext cx="126283" cy="12628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24160" y="8720"/>
            <a:ext cx="147317" cy="14731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2256" y="179408"/>
            <a:ext cx="116303" cy="11630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48288" y="192281"/>
            <a:ext cx="119793" cy="11979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04320" y="19390"/>
            <a:ext cx="103123" cy="1031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Accessibility and safety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ACCESSIBILITY + SAFETY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farmers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566928" y="1847088"/>
            <a:ext cx="5449824" cy="1975104"/>
          </a:xfrm>
          <a:prstGeom prst="roundRect">
            <a:avLst>
              <a:gd name="adj" fmla="val 2315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201168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MAY NOT READ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340864"/>
            <a:ext cx="50109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and out in 24 languages.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each language — Saathi, ਸਾਥੀ, 农友, Parceiro, Umngane.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 grammar: state → duration → action → quantity.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units first; prices carry “per quintal”.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Decision-first cards; numbers sit underneath.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6208" y="1847088"/>
            <a:ext cx="5385816" cy="1975104"/>
          </a:xfrm>
          <a:prstGeom prst="roundRect">
            <a:avLst>
              <a:gd name="adj" fmla="val 2315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55664" y="201168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A FEATURE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2340864"/>
            <a:ext cx="49469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 crop photographs are refused.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pesticide dose is emitted by the system.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forecasting.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Urban-mask soil displacement is disclosed.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thresholds are not claimed to be per-field accurate.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3968496"/>
            <a:ext cx="11055096" cy="1298448"/>
          </a:xfrm>
          <a:prstGeom prst="roundRect">
            <a:avLst>
              <a:gd name="adj" fmla="val 3521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133088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REFUSES, AT EVERY LAYER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" y="4462272"/>
            <a:ext cx="1061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— silence never becomes words     ·     Soil — a masked cell is “no data”, not a nearby guess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 — an uncalibrated crop is named, not guessed     ·     Diagnosis — an unusable photo is declined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— today's rate and the MSP floor, never a forecast     ·     Retrieval — below 0.62, nothing is quoted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a figure absent from the source raises a warning     ·     Schemes — navigation, never an eligibility ruling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5431536"/>
            <a:ext cx="9592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farmer told ‘the soil map is uncertain here — a KVK soil test would be firmer’ has been served well. One given a confident wrong number has been harmed.”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15996"/>
            <a:ext cx="171088" cy="1710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15775"/>
            <a:ext cx="138727" cy="13872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62559"/>
            <a:ext cx="147968" cy="14796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63878"/>
            <a:ext cx="123603" cy="12360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41374"/>
            <a:ext cx="137541" cy="13754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57957"/>
            <a:ext cx="167338" cy="1673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94180"/>
            <a:ext cx="154049" cy="15404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23099"/>
            <a:ext cx="157230" cy="157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124879"/>
            <a:ext cx="132420" cy="13242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791456" y="75750"/>
            <a:ext cx="113989" cy="113989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3135"/>
            <a:ext cx="109036" cy="10903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108814"/>
            <a:ext cx="155739" cy="15573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82385"/>
            <a:ext cx="144674" cy="14467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36778"/>
            <a:ext cx="157122" cy="15712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45504"/>
            <a:ext cx="171913" cy="17191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211917"/>
            <a:ext cx="170530" cy="17053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1936" y="53970"/>
            <a:ext cx="100887" cy="10088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6064" y="154831"/>
            <a:ext cx="109142" cy="10914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912096" y="152104"/>
            <a:ext cx="117302" cy="11730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92256" y="49737"/>
            <a:ext cx="111280" cy="1112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Reach across India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ONE FIELD TO INDIA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scales is the tools, not the model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566928" y="1847088"/>
            <a:ext cx="3529584" cy="2340864"/>
          </a:xfrm>
          <a:prstGeom prst="roundRect">
            <a:avLst>
              <a:gd name="adj" fmla="val 1953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20116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PILOT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2340864"/>
            <a:ext cx="30906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and rice — already calibrated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district's KVKs as the distribution channel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Punjabi, Hindi, English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is the advice acted on?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219456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Punjab &amp; Haryana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97680" y="1847088"/>
            <a:ext cx="3529584" cy="2340864"/>
          </a:xfrm>
          <a:prstGeom prst="roundRect">
            <a:avLst>
              <a:gd name="adj" fmla="val 1953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17136" y="20116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ZONES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17136" y="2340864"/>
            <a:ext cx="309067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zone's crops added as tool modules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zone's language switched 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agriculture departments and FPOs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does accuracy hold outside Punjab?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17136" y="219456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agro-climatic zones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28432" y="1847088"/>
            <a:ext cx="3593592" cy="2340864"/>
          </a:xfrm>
          <a:prstGeom prst="roundRect">
            <a:avLst>
              <a:gd name="adj" fmla="val 1953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47888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NATIONAL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2340864"/>
            <a:ext cx="3154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languages already built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Agronomy modules added independently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KVKs · FPOs · state departments · CSCs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pool models, never records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66928" y="4352544"/>
            <a:ext cx="11055096" cy="1152144"/>
          </a:xfrm>
          <a:prstGeom prst="roundRect">
            <a:avLst>
              <a:gd name="adj" fmla="val 3968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4517136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CHEAP TO EXTEND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4846320"/>
            <a:ext cx="10616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state does not need a new model. It needs its crops calibrated and its language switched on — and the language is already there. Adding a crop is a coefficient table; adding a district is a coordinate. The soil map, the satellite pipeline and the advisory corpus are national from day one.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63270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phases above are a plan, not traction. Saathi has no farmers yet — the engine is built and tested; the pilot is what we are asking for.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49797"/>
            <a:ext cx="125044" cy="12504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59710"/>
            <a:ext cx="172434" cy="17243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171080"/>
            <a:ext cx="164907" cy="16490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95300"/>
            <a:ext cx="145713" cy="14571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49534"/>
            <a:ext cx="157344" cy="1573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77717"/>
            <a:ext cx="162425" cy="16242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1719072" y="87323"/>
            <a:ext cx="140087" cy="14008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75692"/>
            <a:ext cx="149590" cy="14959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93011"/>
            <a:ext cx="108820" cy="10882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2673"/>
            <a:ext cx="169238" cy="16923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9232" y="104669"/>
            <a:ext cx="142231" cy="1422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1296" y="211084"/>
            <a:ext cx="144510" cy="14451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218360"/>
            <a:ext cx="116354" cy="1163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204557"/>
            <a:ext cx="128491" cy="12849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40417"/>
            <a:ext cx="137368" cy="13736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94334"/>
            <a:ext cx="154958" cy="15495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213139"/>
            <a:ext cx="149763" cy="14976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210425"/>
            <a:ext cx="118879" cy="118879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73646"/>
            <a:ext cx="108355" cy="10835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96092"/>
            <a:ext cx="137785" cy="13778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214321"/>
            <a:ext cx="140400" cy="1404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182922"/>
            <a:ext cx="173543" cy="17354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4" name="Shape 22"/>
          <p:cNvSpPr/>
          <p:nvPr/>
        </p:nvSpPr>
        <p:spPr>
          <a:xfrm>
            <a:off x="9656064" y="31612"/>
            <a:ext cx="107963" cy="10796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0" y="173657"/>
            <a:ext cx="104128" cy="1041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36224" y="173384"/>
            <a:ext cx="133250" cy="1332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86860"/>
            <a:ext cx="101438" cy="10143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04320" y="126365"/>
            <a:ext cx="139363" cy="13936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Deployment and impact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PILOT-READY BY DESIGN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would take, and what would change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566928" y="1847088"/>
            <a:ext cx="5449824" cy="2377440"/>
          </a:xfrm>
          <a:prstGeom prst="roundRect">
            <a:avLst>
              <a:gd name="adj" fmla="val 1923"/>
            </a:avLst>
          </a:prstGeom>
          <a:solidFill>
            <a:srgbClr val="241F18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201168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PILOT, IN FOUR WEEKS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2340864"/>
            <a:ext cx="5010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deploy the container. No new infrastructure.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onboard a KVK or department; set the districts.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switch on the zone's languages and crop modules.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farmers onboard; monitor answers and refusals.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1847088"/>
            <a:ext cx="5385816" cy="2377440"/>
          </a:xfrm>
          <a:prstGeom prst="roundRect">
            <a:avLst>
              <a:gd name="adj" fmla="val 1923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55664" y="201168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NEED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55664" y="2340864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model training — Gemini plus validated tools.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satellite or sensor infrastructure.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per-state data agreement — sources are open-licensed.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budget: every service runs on a free tier.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389120"/>
            <a:ext cx="5449824" cy="1389888"/>
          </a:xfrm>
          <a:prstGeom prst="roundRect">
            <a:avLst>
              <a:gd name="adj" fmla="val 3289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455371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ALREADY SHOW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" y="4882896"/>
            <a:ext cx="5010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tied to this field's measured water balance rather than a calendar. Soil for any coordinate in India in ~6 ms. Advice quoted from government sources with the link. A refusal when the evidence is thin.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36208" y="4389120"/>
            <a:ext cx="5385816" cy="1389888"/>
          </a:xfrm>
          <a:prstGeom prst="roundRect">
            <a:avLst>
              <a:gd name="adj" fmla="val 3289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55664" y="4553712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PILOT WOULD MEASURE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55664" y="4882896"/>
            <a:ext cx="4946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 against a district's usual practice. Whether advice is acted on. Yield and margin against a control group. None is claimed here, because none has been measured — and a number we invented would undo the point of the whole system.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AgriN</dc:title>
  <dc:subject>PptxGenJS Presentation</dc:subject>
  <dc:creator>Harnoor Singh, Japleen Kaur</dc:creator>
  <cp:lastModifiedBy>Harnoor Singh, Japleen Kaur</cp:lastModifiedBy>
  <cp:revision>1</cp:revision>
  <dcterms:created xsi:type="dcterms:W3CDTF">2026-09-29T17:36:34Z</dcterms:created>
  <dcterms:modified xsi:type="dcterms:W3CDTF">2026-09-29T17:36:34Z</dcterms:modified>
</cp:coreProperties>
</file>